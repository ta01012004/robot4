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87" r:id="rId2"/>
    <p:sldId id="344" r:id="rId3"/>
    <p:sldId id="345" r:id="rId4"/>
    <p:sldId id="333" r:id="rId5"/>
    <p:sldId id="349" r:id="rId6"/>
    <p:sldId id="350" r:id="rId7"/>
    <p:sldId id="351" r:id="rId8"/>
    <p:sldId id="352" r:id="rId9"/>
    <p:sldId id="334" r:id="rId10"/>
    <p:sldId id="337" r:id="rId11"/>
    <p:sldId id="338" r:id="rId12"/>
    <p:sldId id="335" r:id="rId13"/>
    <p:sldId id="346" r:id="rId14"/>
    <p:sldId id="347" r:id="rId15"/>
    <p:sldId id="348" r:id="rId16"/>
    <p:sldId id="340" r:id="rId17"/>
    <p:sldId id="341" r:id="rId18"/>
    <p:sldId id="342" r:id="rId19"/>
    <p:sldId id="343" r:id="rId20"/>
    <p:sldId id="336" r:id="rId21"/>
    <p:sldId id="353" r:id="rId22"/>
    <p:sldId id="356" r:id="rId23"/>
    <p:sldId id="354" r:id="rId24"/>
    <p:sldId id="355" r:id="rId25"/>
    <p:sldId id="339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37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853" autoAdjust="0"/>
    <p:restoredTop sz="84530" autoAdjust="0"/>
  </p:normalViewPr>
  <p:slideViewPr>
    <p:cSldViewPr snapToGrid="0">
      <p:cViewPr varScale="1">
        <p:scale>
          <a:sx n="84" d="100"/>
          <a:sy n="84" d="100"/>
        </p:scale>
        <p:origin x="202" y="7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B8C643B-A426-4519-8012-EF5364847172}" type="doc">
      <dgm:prSet loTypeId="urn:microsoft.com/office/officeart/2005/8/layout/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B9460B7-F72B-49EF-B477-2539D18B42EE}">
      <dgm:prSet custT="1"/>
      <dgm:spPr/>
      <dgm:t>
        <a:bodyPr/>
        <a:lstStyle/>
        <a:p>
          <a:r>
            <a:rPr lang="en-US" sz="1600"/>
            <a:t>Xác định cấu trúc và biến khớp</a:t>
          </a:r>
        </a:p>
      </dgm:t>
    </dgm:pt>
    <dgm:pt modelId="{2C609DB5-25D0-4B0A-96A4-77C17248CACD}" type="parTrans" cxnId="{E694A05F-42F9-4197-9969-72232FC7C929}">
      <dgm:prSet/>
      <dgm:spPr/>
      <dgm:t>
        <a:bodyPr/>
        <a:lstStyle/>
        <a:p>
          <a:endParaRPr lang="en-US"/>
        </a:p>
      </dgm:t>
    </dgm:pt>
    <dgm:pt modelId="{8921BA6A-34C6-4B75-89FF-A28CCAE9B25F}" type="sibTrans" cxnId="{E694A05F-42F9-4197-9969-72232FC7C929}">
      <dgm:prSet/>
      <dgm:spPr/>
      <dgm:t>
        <a:bodyPr/>
        <a:lstStyle/>
        <a:p>
          <a:endParaRPr lang="en-US"/>
        </a:p>
      </dgm:t>
    </dgm:pt>
    <dgm:pt modelId="{460EA5A9-B614-4505-97F4-ADD850793354}">
      <dgm:prSet custT="1"/>
      <dgm:spPr/>
      <dgm:t>
        <a:bodyPr/>
        <a:lstStyle/>
        <a:p>
          <a:r>
            <a:rPr lang="en-US" sz="1600"/>
            <a:t>Thiết Lập trục và bảng DH</a:t>
          </a:r>
        </a:p>
      </dgm:t>
    </dgm:pt>
    <dgm:pt modelId="{2AEA9AE9-BC93-468C-8A17-92CCB64A8DFE}" type="parTrans" cxnId="{DC1A310D-48BA-4501-89B4-216077E33BC2}">
      <dgm:prSet/>
      <dgm:spPr/>
      <dgm:t>
        <a:bodyPr/>
        <a:lstStyle/>
        <a:p>
          <a:endParaRPr lang="en-US"/>
        </a:p>
      </dgm:t>
    </dgm:pt>
    <dgm:pt modelId="{29C00D9F-F5FE-4AB4-AA3E-8260C307B3D1}" type="sibTrans" cxnId="{DC1A310D-48BA-4501-89B4-216077E33BC2}">
      <dgm:prSet/>
      <dgm:spPr/>
      <dgm:t>
        <a:bodyPr/>
        <a:lstStyle/>
        <a:p>
          <a:endParaRPr lang="en-US"/>
        </a:p>
      </dgm:t>
    </dgm:pt>
    <dgm:pt modelId="{6219483C-0AB1-459A-BABA-7C38B7655E91}">
      <dgm:prSet custT="1"/>
      <dgm:spPr/>
      <dgm:t>
        <a:bodyPr/>
        <a:lstStyle/>
        <a:p>
          <a:r>
            <a:rPr lang="en-US" sz="1600"/>
            <a:t>Lập ma trận biến đổi từng khâu và nhân chuỗi ma trận tìm vị trí</a:t>
          </a:r>
        </a:p>
      </dgm:t>
    </dgm:pt>
    <dgm:pt modelId="{F3A910E9-00FE-4793-BF6D-F683EEC4AF4D}" type="parTrans" cxnId="{2444473F-4EC7-4FCD-968E-D87C7B99DC9F}">
      <dgm:prSet/>
      <dgm:spPr/>
      <dgm:t>
        <a:bodyPr/>
        <a:lstStyle/>
        <a:p>
          <a:endParaRPr lang="en-US"/>
        </a:p>
      </dgm:t>
    </dgm:pt>
    <dgm:pt modelId="{9F3B971B-B5A0-4D78-9C40-DFA72DBA5A22}" type="sibTrans" cxnId="{2444473F-4EC7-4FCD-968E-D87C7B99DC9F}">
      <dgm:prSet/>
      <dgm:spPr/>
      <dgm:t>
        <a:bodyPr/>
        <a:lstStyle/>
        <a:p>
          <a:endParaRPr lang="en-US"/>
        </a:p>
      </dgm:t>
    </dgm:pt>
    <dgm:pt modelId="{1ACAB02F-F83B-404E-AC1F-E6B85129CF54}">
      <dgm:prSet/>
      <dgm:spPr/>
      <dgm:t>
        <a:bodyPr/>
        <a:lstStyle/>
        <a:p>
          <a:r>
            <a: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Kết quả của bài toán động học thuận được dùng làm cơ sở cho:</a:t>
          </a:r>
        </a:p>
      </dgm:t>
    </dgm:pt>
    <dgm:pt modelId="{55437168-23E1-440F-8CF6-6B2B48DC7E0C}" type="parTrans" cxnId="{62C33BA8-DF73-4D6A-8F32-9C25ED5C397F}">
      <dgm:prSet/>
      <dgm:spPr/>
      <dgm:t>
        <a:bodyPr/>
        <a:lstStyle/>
        <a:p>
          <a:endParaRPr lang="en-US"/>
        </a:p>
      </dgm:t>
    </dgm:pt>
    <dgm:pt modelId="{72E02AFC-A6EE-4679-8498-BD7CAC950CEE}" type="sibTrans" cxnId="{62C33BA8-DF73-4D6A-8F32-9C25ED5C397F}">
      <dgm:prSet/>
      <dgm:spPr/>
      <dgm:t>
        <a:bodyPr/>
        <a:lstStyle/>
        <a:p>
          <a:endParaRPr lang="en-US"/>
        </a:p>
      </dgm:t>
    </dgm:pt>
    <dgm:pt modelId="{14C41964-37BF-45E0-BBDA-3B03888D70DD}">
      <dgm:prSet/>
      <dgm:spPr/>
      <dgm:t>
        <a:bodyPr/>
        <a:lstStyle/>
        <a:p>
          <a:r>
            <a:rPr lang="en-US">
              <a:solidFill>
                <a:srgbClr val="FF0000"/>
              </a:solidFill>
            </a:rPr>
            <a:t>Động học ngược (Inverse Kinematics)</a:t>
          </a:r>
        </a:p>
      </dgm:t>
    </dgm:pt>
    <dgm:pt modelId="{14FE4E70-459C-48A6-A1E2-F2ED91AB7120}" type="parTrans" cxnId="{1C883BDB-3E83-45EF-9F04-926D8B8D8ECD}">
      <dgm:prSet/>
      <dgm:spPr/>
      <dgm:t>
        <a:bodyPr/>
        <a:lstStyle/>
        <a:p>
          <a:endParaRPr lang="en-US"/>
        </a:p>
      </dgm:t>
    </dgm:pt>
    <dgm:pt modelId="{7509F348-DD69-4071-B686-B9C445AFCA2C}" type="sibTrans" cxnId="{1C883BDB-3E83-45EF-9F04-926D8B8D8ECD}">
      <dgm:prSet/>
      <dgm:spPr/>
      <dgm:t>
        <a:bodyPr/>
        <a:lstStyle/>
        <a:p>
          <a:endParaRPr lang="en-US"/>
        </a:p>
      </dgm:t>
    </dgm:pt>
    <dgm:pt modelId="{3210D216-5747-4F37-BE0B-D70F4B96F1B3}">
      <dgm:prSet/>
      <dgm:spPr/>
      <dgm:t>
        <a:bodyPr/>
        <a:lstStyle/>
        <a:p>
          <a:r>
            <a:rPr lang="en-US">
              <a:solidFill>
                <a:srgbClr val="FF0000"/>
              </a:solidFill>
            </a:rPr>
            <a:t>Phân tích vận tốc, gia tốc</a:t>
          </a:r>
        </a:p>
      </dgm:t>
    </dgm:pt>
    <dgm:pt modelId="{B3304BC3-42DF-4DA9-8874-B3B31AA2704A}" type="parTrans" cxnId="{D2F88F87-18CA-4CBC-8673-A97FB8E51063}">
      <dgm:prSet/>
      <dgm:spPr/>
      <dgm:t>
        <a:bodyPr/>
        <a:lstStyle/>
        <a:p>
          <a:endParaRPr lang="en-US"/>
        </a:p>
      </dgm:t>
    </dgm:pt>
    <dgm:pt modelId="{AED7FA61-B0E7-4FE0-9409-44078D5BB4A5}" type="sibTrans" cxnId="{D2F88F87-18CA-4CBC-8673-A97FB8E51063}">
      <dgm:prSet/>
      <dgm:spPr/>
      <dgm:t>
        <a:bodyPr/>
        <a:lstStyle/>
        <a:p>
          <a:endParaRPr lang="en-US"/>
        </a:p>
      </dgm:t>
    </dgm:pt>
    <dgm:pt modelId="{A94C0C35-B69C-425E-8DEF-61BF72E90C30}">
      <dgm:prSet/>
      <dgm:spPr/>
      <dgm:t>
        <a:bodyPr/>
        <a:lstStyle/>
        <a:p>
          <a:r>
            <a:rPr lang="en-US">
              <a:solidFill>
                <a:srgbClr val="FF0000"/>
              </a:solidFill>
            </a:rPr>
            <a:t>Mô phỏng và điều khiển chuyển động</a:t>
          </a:r>
        </a:p>
      </dgm:t>
    </dgm:pt>
    <dgm:pt modelId="{3A785726-5006-4A5B-8E4C-A2C8E4D691F2}" type="parTrans" cxnId="{3AD9F73A-2836-4BD2-BBC0-258D276D0242}">
      <dgm:prSet/>
      <dgm:spPr/>
      <dgm:t>
        <a:bodyPr/>
        <a:lstStyle/>
        <a:p>
          <a:endParaRPr lang="en-US"/>
        </a:p>
      </dgm:t>
    </dgm:pt>
    <dgm:pt modelId="{03C06660-3BCB-4FCC-8870-D7D4A920B444}" type="sibTrans" cxnId="{3AD9F73A-2836-4BD2-BBC0-258D276D0242}">
      <dgm:prSet/>
      <dgm:spPr/>
      <dgm:t>
        <a:bodyPr/>
        <a:lstStyle/>
        <a:p>
          <a:endParaRPr lang="en-US"/>
        </a:p>
      </dgm:t>
    </dgm:pt>
    <dgm:pt modelId="{6D26F910-17FE-4B97-BCDC-CE4AF978681D}" type="pres">
      <dgm:prSet presAssocID="{DB8C643B-A426-4519-8012-EF5364847172}" presName="Name0" presStyleCnt="0">
        <dgm:presLayoutVars>
          <dgm:dir/>
          <dgm:animLvl val="lvl"/>
          <dgm:resizeHandles val="exact"/>
        </dgm:presLayoutVars>
      </dgm:prSet>
      <dgm:spPr/>
    </dgm:pt>
    <dgm:pt modelId="{CE4DE001-568B-4A81-887F-784F7AA81293}" type="pres">
      <dgm:prSet presAssocID="{1ACAB02F-F83B-404E-AC1F-E6B85129CF54}" presName="boxAndChildren" presStyleCnt="0"/>
      <dgm:spPr/>
    </dgm:pt>
    <dgm:pt modelId="{991CD379-1EC5-4A1A-8552-AAA252001D03}" type="pres">
      <dgm:prSet presAssocID="{1ACAB02F-F83B-404E-AC1F-E6B85129CF54}" presName="parentTextBox" presStyleLbl="node1" presStyleIdx="0" presStyleCnt="4"/>
      <dgm:spPr/>
    </dgm:pt>
    <dgm:pt modelId="{D007CCF5-98ED-420F-A999-45E91733DB67}" type="pres">
      <dgm:prSet presAssocID="{1ACAB02F-F83B-404E-AC1F-E6B85129CF54}" presName="entireBox" presStyleLbl="node1" presStyleIdx="0" presStyleCnt="4"/>
      <dgm:spPr/>
    </dgm:pt>
    <dgm:pt modelId="{DCE28E62-E66A-4B21-AEFA-68C6337F9E0B}" type="pres">
      <dgm:prSet presAssocID="{1ACAB02F-F83B-404E-AC1F-E6B85129CF54}" presName="descendantBox" presStyleCnt="0"/>
      <dgm:spPr/>
    </dgm:pt>
    <dgm:pt modelId="{061DCC36-516C-46E9-943F-229AACA3D013}" type="pres">
      <dgm:prSet presAssocID="{14C41964-37BF-45E0-BBDA-3B03888D70DD}" presName="childTextBox" presStyleLbl="fgAccFollowNode1" presStyleIdx="0" presStyleCnt="3">
        <dgm:presLayoutVars>
          <dgm:bulletEnabled val="1"/>
        </dgm:presLayoutVars>
      </dgm:prSet>
      <dgm:spPr/>
    </dgm:pt>
    <dgm:pt modelId="{D359610E-377C-4F08-A4F8-483ADE99247B}" type="pres">
      <dgm:prSet presAssocID="{3210D216-5747-4F37-BE0B-D70F4B96F1B3}" presName="childTextBox" presStyleLbl="fgAccFollowNode1" presStyleIdx="1" presStyleCnt="3">
        <dgm:presLayoutVars>
          <dgm:bulletEnabled val="1"/>
        </dgm:presLayoutVars>
      </dgm:prSet>
      <dgm:spPr/>
    </dgm:pt>
    <dgm:pt modelId="{6A526226-B5D9-431D-8B6A-FF0823EEDE55}" type="pres">
      <dgm:prSet presAssocID="{A94C0C35-B69C-425E-8DEF-61BF72E90C30}" presName="childTextBox" presStyleLbl="fgAccFollowNode1" presStyleIdx="2" presStyleCnt="3">
        <dgm:presLayoutVars>
          <dgm:bulletEnabled val="1"/>
        </dgm:presLayoutVars>
      </dgm:prSet>
      <dgm:spPr/>
    </dgm:pt>
    <dgm:pt modelId="{AAFEC680-1062-4A09-9870-AFE1751D51C9}" type="pres">
      <dgm:prSet presAssocID="{9F3B971B-B5A0-4D78-9C40-DFA72DBA5A22}" presName="sp" presStyleCnt="0"/>
      <dgm:spPr/>
    </dgm:pt>
    <dgm:pt modelId="{80395471-479E-4DAA-817E-C96CAB9E4900}" type="pres">
      <dgm:prSet presAssocID="{6219483C-0AB1-459A-BABA-7C38B7655E91}" presName="arrowAndChildren" presStyleCnt="0"/>
      <dgm:spPr/>
    </dgm:pt>
    <dgm:pt modelId="{D0333951-B562-4D1B-BFFF-0C96527CAF90}" type="pres">
      <dgm:prSet presAssocID="{6219483C-0AB1-459A-BABA-7C38B7655E91}" presName="parentTextArrow" presStyleLbl="node1" presStyleIdx="1" presStyleCnt="4"/>
      <dgm:spPr/>
    </dgm:pt>
    <dgm:pt modelId="{D8AD7BB4-15E8-43E6-A075-9F7C7168F501}" type="pres">
      <dgm:prSet presAssocID="{29C00D9F-F5FE-4AB4-AA3E-8260C307B3D1}" presName="sp" presStyleCnt="0"/>
      <dgm:spPr/>
    </dgm:pt>
    <dgm:pt modelId="{C66B3738-4444-43EC-A281-EE17EC8E407C}" type="pres">
      <dgm:prSet presAssocID="{460EA5A9-B614-4505-97F4-ADD850793354}" presName="arrowAndChildren" presStyleCnt="0"/>
      <dgm:spPr/>
    </dgm:pt>
    <dgm:pt modelId="{77B654A1-5FD7-4E4A-80A0-BDA5D825A7A3}" type="pres">
      <dgm:prSet presAssocID="{460EA5A9-B614-4505-97F4-ADD850793354}" presName="parentTextArrow" presStyleLbl="node1" presStyleIdx="2" presStyleCnt="4"/>
      <dgm:spPr/>
    </dgm:pt>
    <dgm:pt modelId="{60460D96-B045-4B0C-964C-0FD655354F27}" type="pres">
      <dgm:prSet presAssocID="{8921BA6A-34C6-4B75-89FF-A28CCAE9B25F}" presName="sp" presStyleCnt="0"/>
      <dgm:spPr/>
    </dgm:pt>
    <dgm:pt modelId="{E61DCABE-E2AD-433E-BD88-7C781A63BAD7}" type="pres">
      <dgm:prSet presAssocID="{BB9460B7-F72B-49EF-B477-2539D18B42EE}" presName="arrowAndChildren" presStyleCnt="0"/>
      <dgm:spPr/>
    </dgm:pt>
    <dgm:pt modelId="{A4470DA9-B98E-48E6-87AD-5E7B142836CD}" type="pres">
      <dgm:prSet presAssocID="{BB9460B7-F72B-49EF-B477-2539D18B42EE}" presName="parentTextArrow" presStyleLbl="node1" presStyleIdx="3" presStyleCnt="4"/>
      <dgm:spPr/>
    </dgm:pt>
  </dgm:ptLst>
  <dgm:cxnLst>
    <dgm:cxn modelId="{DC1A310D-48BA-4501-89B4-216077E33BC2}" srcId="{DB8C643B-A426-4519-8012-EF5364847172}" destId="{460EA5A9-B614-4505-97F4-ADD850793354}" srcOrd="1" destOrd="0" parTransId="{2AEA9AE9-BC93-468C-8A17-92CCB64A8DFE}" sibTransId="{29C00D9F-F5FE-4AB4-AA3E-8260C307B3D1}"/>
    <dgm:cxn modelId="{ADF8E315-5F68-4DD0-A0F5-492B37F2C50E}" type="presOf" srcId="{DB8C643B-A426-4519-8012-EF5364847172}" destId="{6D26F910-17FE-4B97-BCDC-CE4AF978681D}" srcOrd="0" destOrd="0" presId="urn:microsoft.com/office/officeart/2005/8/layout/process4"/>
    <dgm:cxn modelId="{85C25D2A-FD42-4B08-A937-0FC0159B1E3B}" type="presOf" srcId="{A94C0C35-B69C-425E-8DEF-61BF72E90C30}" destId="{6A526226-B5D9-431D-8B6A-FF0823EEDE55}" srcOrd="0" destOrd="0" presId="urn:microsoft.com/office/officeart/2005/8/layout/process4"/>
    <dgm:cxn modelId="{3AD9F73A-2836-4BD2-BBC0-258D276D0242}" srcId="{1ACAB02F-F83B-404E-AC1F-E6B85129CF54}" destId="{A94C0C35-B69C-425E-8DEF-61BF72E90C30}" srcOrd="2" destOrd="0" parTransId="{3A785726-5006-4A5B-8E4C-A2C8E4D691F2}" sibTransId="{03C06660-3BCB-4FCC-8870-D7D4A920B444}"/>
    <dgm:cxn modelId="{2444473F-4EC7-4FCD-968E-D87C7B99DC9F}" srcId="{DB8C643B-A426-4519-8012-EF5364847172}" destId="{6219483C-0AB1-459A-BABA-7C38B7655E91}" srcOrd="2" destOrd="0" parTransId="{F3A910E9-00FE-4793-BF6D-F683EEC4AF4D}" sibTransId="{9F3B971B-B5A0-4D78-9C40-DFA72DBA5A22}"/>
    <dgm:cxn modelId="{E694A05F-42F9-4197-9969-72232FC7C929}" srcId="{DB8C643B-A426-4519-8012-EF5364847172}" destId="{BB9460B7-F72B-49EF-B477-2539D18B42EE}" srcOrd="0" destOrd="0" parTransId="{2C609DB5-25D0-4B0A-96A4-77C17248CACD}" sibTransId="{8921BA6A-34C6-4B75-89FF-A28CCAE9B25F}"/>
    <dgm:cxn modelId="{C4DC6741-22C7-4C60-85AA-470D3E173DC7}" type="presOf" srcId="{1ACAB02F-F83B-404E-AC1F-E6B85129CF54}" destId="{991CD379-1EC5-4A1A-8552-AAA252001D03}" srcOrd="0" destOrd="0" presId="urn:microsoft.com/office/officeart/2005/8/layout/process4"/>
    <dgm:cxn modelId="{A47D8A64-051F-4808-A91F-11FD200B33D9}" type="presOf" srcId="{460EA5A9-B614-4505-97F4-ADD850793354}" destId="{77B654A1-5FD7-4E4A-80A0-BDA5D825A7A3}" srcOrd="0" destOrd="0" presId="urn:microsoft.com/office/officeart/2005/8/layout/process4"/>
    <dgm:cxn modelId="{681ABC69-07BA-41AE-B15D-CFF13A0649F8}" type="presOf" srcId="{14C41964-37BF-45E0-BBDA-3B03888D70DD}" destId="{061DCC36-516C-46E9-943F-229AACA3D013}" srcOrd="0" destOrd="0" presId="urn:microsoft.com/office/officeart/2005/8/layout/process4"/>
    <dgm:cxn modelId="{9B58D44F-1D25-484E-AB26-A2653FD99F6C}" type="presOf" srcId="{3210D216-5747-4F37-BE0B-D70F4B96F1B3}" destId="{D359610E-377C-4F08-A4F8-483ADE99247B}" srcOrd="0" destOrd="0" presId="urn:microsoft.com/office/officeart/2005/8/layout/process4"/>
    <dgm:cxn modelId="{2D984458-CF90-43DB-8653-733892104C8A}" type="presOf" srcId="{1ACAB02F-F83B-404E-AC1F-E6B85129CF54}" destId="{D007CCF5-98ED-420F-A999-45E91733DB67}" srcOrd="1" destOrd="0" presId="urn:microsoft.com/office/officeart/2005/8/layout/process4"/>
    <dgm:cxn modelId="{D2F88F87-18CA-4CBC-8673-A97FB8E51063}" srcId="{1ACAB02F-F83B-404E-AC1F-E6B85129CF54}" destId="{3210D216-5747-4F37-BE0B-D70F4B96F1B3}" srcOrd="1" destOrd="0" parTransId="{B3304BC3-42DF-4DA9-8874-B3B31AA2704A}" sibTransId="{AED7FA61-B0E7-4FE0-9409-44078D5BB4A5}"/>
    <dgm:cxn modelId="{62C33BA8-DF73-4D6A-8F32-9C25ED5C397F}" srcId="{DB8C643B-A426-4519-8012-EF5364847172}" destId="{1ACAB02F-F83B-404E-AC1F-E6B85129CF54}" srcOrd="3" destOrd="0" parTransId="{55437168-23E1-440F-8CF6-6B2B48DC7E0C}" sibTransId="{72E02AFC-A6EE-4679-8498-BD7CAC950CEE}"/>
    <dgm:cxn modelId="{CF2F9FD2-DFF2-41DC-9FFB-B9AA5976C2D9}" type="presOf" srcId="{BB9460B7-F72B-49EF-B477-2539D18B42EE}" destId="{A4470DA9-B98E-48E6-87AD-5E7B142836CD}" srcOrd="0" destOrd="0" presId="urn:microsoft.com/office/officeart/2005/8/layout/process4"/>
    <dgm:cxn modelId="{734277D4-349C-4C23-92F9-3E722D34A3ED}" type="presOf" srcId="{6219483C-0AB1-459A-BABA-7C38B7655E91}" destId="{D0333951-B562-4D1B-BFFF-0C96527CAF90}" srcOrd="0" destOrd="0" presId="urn:microsoft.com/office/officeart/2005/8/layout/process4"/>
    <dgm:cxn modelId="{1C883BDB-3E83-45EF-9F04-926D8B8D8ECD}" srcId="{1ACAB02F-F83B-404E-AC1F-E6B85129CF54}" destId="{14C41964-37BF-45E0-BBDA-3B03888D70DD}" srcOrd="0" destOrd="0" parTransId="{14FE4E70-459C-48A6-A1E2-F2ED91AB7120}" sibTransId="{7509F348-DD69-4071-B686-B9C445AFCA2C}"/>
    <dgm:cxn modelId="{9A97A753-95FF-4F6A-8B50-CCB83F231EB1}" type="presParOf" srcId="{6D26F910-17FE-4B97-BCDC-CE4AF978681D}" destId="{CE4DE001-568B-4A81-887F-784F7AA81293}" srcOrd="0" destOrd="0" presId="urn:microsoft.com/office/officeart/2005/8/layout/process4"/>
    <dgm:cxn modelId="{292DBD95-F7C9-4813-AC3A-8BD5D4EBF061}" type="presParOf" srcId="{CE4DE001-568B-4A81-887F-784F7AA81293}" destId="{991CD379-1EC5-4A1A-8552-AAA252001D03}" srcOrd="0" destOrd="0" presId="urn:microsoft.com/office/officeart/2005/8/layout/process4"/>
    <dgm:cxn modelId="{36092E55-BBEA-4BCE-8C4F-1D1296734B59}" type="presParOf" srcId="{CE4DE001-568B-4A81-887F-784F7AA81293}" destId="{D007CCF5-98ED-420F-A999-45E91733DB67}" srcOrd="1" destOrd="0" presId="urn:microsoft.com/office/officeart/2005/8/layout/process4"/>
    <dgm:cxn modelId="{E7B9D4B8-F77A-4C18-B4C5-1DB27B5F7BD3}" type="presParOf" srcId="{CE4DE001-568B-4A81-887F-784F7AA81293}" destId="{DCE28E62-E66A-4B21-AEFA-68C6337F9E0B}" srcOrd="2" destOrd="0" presId="urn:microsoft.com/office/officeart/2005/8/layout/process4"/>
    <dgm:cxn modelId="{1DD9A0DC-3C42-4D10-8483-477FC47281C7}" type="presParOf" srcId="{DCE28E62-E66A-4B21-AEFA-68C6337F9E0B}" destId="{061DCC36-516C-46E9-943F-229AACA3D013}" srcOrd="0" destOrd="0" presId="urn:microsoft.com/office/officeart/2005/8/layout/process4"/>
    <dgm:cxn modelId="{54EF9C0A-622F-474F-A3F8-4C516492013B}" type="presParOf" srcId="{DCE28E62-E66A-4B21-AEFA-68C6337F9E0B}" destId="{D359610E-377C-4F08-A4F8-483ADE99247B}" srcOrd="1" destOrd="0" presId="urn:microsoft.com/office/officeart/2005/8/layout/process4"/>
    <dgm:cxn modelId="{0476AD70-65DD-454E-BD39-5D4814DCED63}" type="presParOf" srcId="{DCE28E62-E66A-4B21-AEFA-68C6337F9E0B}" destId="{6A526226-B5D9-431D-8B6A-FF0823EEDE55}" srcOrd="2" destOrd="0" presId="urn:microsoft.com/office/officeart/2005/8/layout/process4"/>
    <dgm:cxn modelId="{A74967F6-2877-42B9-A16D-2CACB5E8D69B}" type="presParOf" srcId="{6D26F910-17FE-4B97-BCDC-CE4AF978681D}" destId="{AAFEC680-1062-4A09-9870-AFE1751D51C9}" srcOrd="1" destOrd="0" presId="urn:microsoft.com/office/officeart/2005/8/layout/process4"/>
    <dgm:cxn modelId="{37F4C25D-0C39-40DC-8F81-644C70DF82AF}" type="presParOf" srcId="{6D26F910-17FE-4B97-BCDC-CE4AF978681D}" destId="{80395471-479E-4DAA-817E-C96CAB9E4900}" srcOrd="2" destOrd="0" presId="urn:microsoft.com/office/officeart/2005/8/layout/process4"/>
    <dgm:cxn modelId="{DFB91B7C-D884-4E8B-867A-6527DEB71536}" type="presParOf" srcId="{80395471-479E-4DAA-817E-C96CAB9E4900}" destId="{D0333951-B562-4D1B-BFFF-0C96527CAF90}" srcOrd="0" destOrd="0" presId="urn:microsoft.com/office/officeart/2005/8/layout/process4"/>
    <dgm:cxn modelId="{F6338CE4-08F2-4AC5-BDE8-730747D3CEF7}" type="presParOf" srcId="{6D26F910-17FE-4B97-BCDC-CE4AF978681D}" destId="{D8AD7BB4-15E8-43E6-A075-9F7C7168F501}" srcOrd="3" destOrd="0" presId="urn:microsoft.com/office/officeart/2005/8/layout/process4"/>
    <dgm:cxn modelId="{E7128C91-2BB7-4DE5-B18C-6957D15C1C44}" type="presParOf" srcId="{6D26F910-17FE-4B97-BCDC-CE4AF978681D}" destId="{C66B3738-4444-43EC-A281-EE17EC8E407C}" srcOrd="4" destOrd="0" presId="urn:microsoft.com/office/officeart/2005/8/layout/process4"/>
    <dgm:cxn modelId="{D148246D-F079-4072-8E5A-A0F1409D26C4}" type="presParOf" srcId="{C66B3738-4444-43EC-A281-EE17EC8E407C}" destId="{77B654A1-5FD7-4E4A-80A0-BDA5D825A7A3}" srcOrd="0" destOrd="0" presId="urn:microsoft.com/office/officeart/2005/8/layout/process4"/>
    <dgm:cxn modelId="{2F9EE363-477C-4C0A-A62C-000ADBCD5EAB}" type="presParOf" srcId="{6D26F910-17FE-4B97-BCDC-CE4AF978681D}" destId="{60460D96-B045-4B0C-964C-0FD655354F27}" srcOrd="5" destOrd="0" presId="urn:microsoft.com/office/officeart/2005/8/layout/process4"/>
    <dgm:cxn modelId="{ECE2B8B2-DA44-4A9D-97E9-EBCB7065C825}" type="presParOf" srcId="{6D26F910-17FE-4B97-BCDC-CE4AF978681D}" destId="{E61DCABE-E2AD-433E-BD88-7C781A63BAD7}" srcOrd="6" destOrd="0" presId="urn:microsoft.com/office/officeart/2005/8/layout/process4"/>
    <dgm:cxn modelId="{E90F77CA-128A-4D46-AAC9-A08BA0936A2D}" type="presParOf" srcId="{E61DCABE-E2AD-433E-BD88-7C781A63BAD7}" destId="{A4470DA9-B98E-48E6-87AD-5E7B142836CD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94D19F0-F77E-4E92-9239-C74583394A4D}" type="doc">
      <dgm:prSet loTypeId="urn:microsoft.com/office/officeart/2005/8/layout/matrix3" loCatId="matrix" qsTypeId="urn:microsoft.com/office/officeart/2005/8/quickstyle/simple5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2125ADE6-2115-4D1F-9820-A82EA7F3652C}">
      <dgm:prSet custT="1"/>
      <dgm:spPr/>
      <dgm:t>
        <a:bodyPr/>
        <a:lstStyle/>
        <a:p>
          <a:r>
            <a:rPr lang="en-US" sz="2000"/>
            <a:t>Viết lại phương trình động học thuận </a:t>
          </a:r>
        </a:p>
      </dgm:t>
    </dgm:pt>
    <dgm:pt modelId="{F96BE7B1-F2FC-4E74-8319-E82A7A2F4EE0}" type="parTrans" cxnId="{A2EEC7B1-8466-4887-8E47-7845B8D0165B}">
      <dgm:prSet/>
      <dgm:spPr/>
      <dgm:t>
        <a:bodyPr/>
        <a:lstStyle/>
        <a:p>
          <a:endParaRPr lang="en-US"/>
        </a:p>
      </dgm:t>
    </dgm:pt>
    <dgm:pt modelId="{D8F3EFEC-6B17-4A8F-AA9A-31BA9DD50907}" type="sibTrans" cxnId="{A2EEC7B1-8466-4887-8E47-7845B8D0165B}">
      <dgm:prSet/>
      <dgm:spPr/>
      <dgm:t>
        <a:bodyPr/>
        <a:lstStyle/>
        <a:p>
          <a:endParaRPr lang="en-US"/>
        </a:p>
      </dgm:t>
    </dgm:pt>
    <dgm:pt modelId="{32EC0137-7998-487C-BEC2-E4EA825146A5}">
      <dgm:prSet custT="1"/>
      <dgm:spPr/>
      <dgm:t>
        <a:bodyPr/>
        <a:lstStyle/>
        <a:p>
          <a:r>
            <a:rPr lang="en-US" sz="2000"/>
            <a:t>Giải theo từng biến khớp</a:t>
          </a:r>
        </a:p>
      </dgm:t>
    </dgm:pt>
    <dgm:pt modelId="{A1911BE7-31E6-45A6-BCFA-FAE945A73EB7}" type="parTrans" cxnId="{6D3D07A3-8775-4327-886D-F3E60D2E01BA}">
      <dgm:prSet/>
      <dgm:spPr/>
      <dgm:t>
        <a:bodyPr/>
        <a:lstStyle/>
        <a:p>
          <a:endParaRPr lang="en-US"/>
        </a:p>
      </dgm:t>
    </dgm:pt>
    <dgm:pt modelId="{7232246A-CEE8-4A12-A12C-98CA2C081B95}" type="sibTrans" cxnId="{6D3D07A3-8775-4327-886D-F3E60D2E01BA}">
      <dgm:prSet/>
      <dgm:spPr/>
      <dgm:t>
        <a:bodyPr/>
        <a:lstStyle/>
        <a:p>
          <a:endParaRPr lang="en-US"/>
        </a:p>
      </dgm:t>
    </dgm:pt>
    <dgm:pt modelId="{64AABD34-CD33-435C-8278-1425855EBFDA}">
      <dgm:prSet custT="1"/>
      <dgm:spPr/>
      <dgm:t>
        <a:bodyPr/>
        <a:lstStyle/>
        <a:p>
          <a:r>
            <a:rPr lang="en-US" sz="2000"/>
            <a:t>Kiểm tra miền làm việc</a:t>
          </a:r>
        </a:p>
      </dgm:t>
    </dgm:pt>
    <dgm:pt modelId="{309B7FD7-21CA-4191-ABB3-5DF09A31ACBA}" type="parTrans" cxnId="{DF8A24D6-4672-45A8-A241-902F7BDCB023}">
      <dgm:prSet/>
      <dgm:spPr/>
      <dgm:t>
        <a:bodyPr/>
        <a:lstStyle/>
        <a:p>
          <a:endParaRPr lang="en-US"/>
        </a:p>
      </dgm:t>
    </dgm:pt>
    <dgm:pt modelId="{EF4CFE43-B09C-4EE0-8C23-0D74199856BC}" type="sibTrans" cxnId="{DF8A24D6-4672-45A8-A241-902F7BDCB023}">
      <dgm:prSet/>
      <dgm:spPr/>
      <dgm:t>
        <a:bodyPr/>
        <a:lstStyle/>
        <a:p>
          <a:endParaRPr lang="en-US"/>
        </a:p>
      </dgm:t>
    </dgm:pt>
    <dgm:pt modelId="{CAA557DB-8D37-4320-BB7C-A1CB396C5756}">
      <dgm:prSet custT="1"/>
      <dgm:spPr/>
      <dgm:t>
        <a:bodyPr/>
        <a:lstStyle/>
        <a:p>
          <a:r>
            <a:rPr lang="en-US" sz="2000"/>
            <a:t>Xác minh nghiệm</a:t>
          </a:r>
        </a:p>
      </dgm:t>
    </dgm:pt>
    <dgm:pt modelId="{3802D0DE-62EB-4A07-B017-503AE5C931C8}" type="parTrans" cxnId="{183B347B-B1B4-435F-99D7-901AE2290E7B}">
      <dgm:prSet/>
      <dgm:spPr/>
      <dgm:t>
        <a:bodyPr/>
        <a:lstStyle/>
        <a:p>
          <a:endParaRPr lang="en-US"/>
        </a:p>
      </dgm:t>
    </dgm:pt>
    <dgm:pt modelId="{5D122BFF-512D-457A-991A-30AD667720AD}" type="sibTrans" cxnId="{183B347B-B1B4-435F-99D7-901AE2290E7B}">
      <dgm:prSet/>
      <dgm:spPr/>
      <dgm:t>
        <a:bodyPr/>
        <a:lstStyle/>
        <a:p>
          <a:endParaRPr lang="en-US"/>
        </a:p>
      </dgm:t>
    </dgm:pt>
    <dgm:pt modelId="{24435C05-B288-404C-BB3F-8758937CED76}" type="pres">
      <dgm:prSet presAssocID="{694D19F0-F77E-4E92-9239-C74583394A4D}" presName="matrix" presStyleCnt="0">
        <dgm:presLayoutVars>
          <dgm:chMax val="1"/>
          <dgm:dir/>
          <dgm:resizeHandles val="exact"/>
        </dgm:presLayoutVars>
      </dgm:prSet>
      <dgm:spPr/>
    </dgm:pt>
    <dgm:pt modelId="{36E6F240-EECB-4031-9E1B-E38199BAC129}" type="pres">
      <dgm:prSet presAssocID="{694D19F0-F77E-4E92-9239-C74583394A4D}" presName="diamond" presStyleLbl="bgShp" presStyleIdx="0" presStyleCnt="1"/>
      <dgm:spPr/>
    </dgm:pt>
    <dgm:pt modelId="{A923607C-085A-4685-BDF9-BC6FC9A1D365}" type="pres">
      <dgm:prSet presAssocID="{694D19F0-F77E-4E92-9239-C74583394A4D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BECD1BB3-5366-4792-B629-FB2A681D9FEC}" type="pres">
      <dgm:prSet presAssocID="{694D19F0-F77E-4E92-9239-C74583394A4D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D6A5EA64-5B63-42EA-B4CF-9E13A28F09A2}" type="pres">
      <dgm:prSet presAssocID="{694D19F0-F77E-4E92-9239-C74583394A4D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B41C1A96-1244-4F96-97B7-E37C1E4B6FAF}" type="pres">
      <dgm:prSet presAssocID="{694D19F0-F77E-4E92-9239-C74583394A4D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ABAA6803-5483-432C-82DB-540075FCEB70}" type="presOf" srcId="{694D19F0-F77E-4E92-9239-C74583394A4D}" destId="{24435C05-B288-404C-BB3F-8758937CED76}" srcOrd="0" destOrd="0" presId="urn:microsoft.com/office/officeart/2005/8/layout/matrix3"/>
    <dgm:cxn modelId="{6F5E452D-AEDD-4EE3-AA84-B370D0986026}" type="presOf" srcId="{32EC0137-7998-487C-BEC2-E4EA825146A5}" destId="{BECD1BB3-5366-4792-B629-FB2A681D9FEC}" srcOrd="0" destOrd="0" presId="urn:microsoft.com/office/officeart/2005/8/layout/matrix3"/>
    <dgm:cxn modelId="{56547162-9B79-4256-9C42-BBB9E73C8560}" type="presOf" srcId="{2125ADE6-2115-4D1F-9820-A82EA7F3652C}" destId="{A923607C-085A-4685-BDF9-BC6FC9A1D365}" srcOrd="0" destOrd="0" presId="urn:microsoft.com/office/officeart/2005/8/layout/matrix3"/>
    <dgm:cxn modelId="{183B347B-B1B4-435F-99D7-901AE2290E7B}" srcId="{694D19F0-F77E-4E92-9239-C74583394A4D}" destId="{CAA557DB-8D37-4320-BB7C-A1CB396C5756}" srcOrd="3" destOrd="0" parTransId="{3802D0DE-62EB-4A07-B017-503AE5C931C8}" sibTransId="{5D122BFF-512D-457A-991A-30AD667720AD}"/>
    <dgm:cxn modelId="{BEAA3B7D-8A7F-4703-90E8-2AEAD8514AB0}" type="presOf" srcId="{64AABD34-CD33-435C-8278-1425855EBFDA}" destId="{D6A5EA64-5B63-42EA-B4CF-9E13A28F09A2}" srcOrd="0" destOrd="0" presId="urn:microsoft.com/office/officeart/2005/8/layout/matrix3"/>
    <dgm:cxn modelId="{71329899-828F-43BE-916A-D744C5595E3F}" type="presOf" srcId="{CAA557DB-8D37-4320-BB7C-A1CB396C5756}" destId="{B41C1A96-1244-4F96-97B7-E37C1E4B6FAF}" srcOrd="0" destOrd="0" presId="urn:microsoft.com/office/officeart/2005/8/layout/matrix3"/>
    <dgm:cxn modelId="{6D3D07A3-8775-4327-886D-F3E60D2E01BA}" srcId="{694D19F0-F77E-4E92-9239-C74583394A4D}" destId="{32EC0137-7998-487C-BEC2-E4EA825146A5}" srcOrd="1" destOrd="0" parTransId="{A1911BE7-31E6-45A6-BCFA-FAE945A73EB7}" sibTransId="{7232246A-CEE8-4A12-A12C-98CA2C081B95}"/>
    <dgm:cxn modelId="{A2EEC7B1-8466-4887-8E47-7845B8D0165B}" srcId="{694D19F0-F77E-4E92-9239-C74583394A4D}" destId="{2125ADE6-2115-4D1F-9820-A82EA7F3652C}" srcOrd="0" destOrd="0" parTransId="{F96BE7B1-F2FC-4E74-8319-E82A7A2F4EE0}" sibTransId="{D8F3EFEC-6B17-4A8F-AA9A-31BA9DD50907}"/>
    <dgm:cxn modelId="{DF8A24D6-4672-45A8-A241-902F7BDCB023}" srcId="{694D19F0-F77E-4E92-9239-C74583394A4D}" destId="{64AABD34-CD33-435C-8278-1425855EBFDA}" srcOrd="2" destOrd="0" parTransId="{309B7FD7-21CA-4191-ABB3-5DF09A31ACBA}" sibTransId="{EF4CFE43-B09C-4EE0-8C23-0D74199856BC}"/>
    <dgm:cxn modelId="{7A4B5D22-8927-4675-A520-4F063F8133BC}" type="presParOf" srcId="{24435C05-B288-404C-BB3F-8758937CED76}" destId="{36E6F240-EECB-4031-9E1B-E38199BAC129}" srcOrd="0" destOrd="0" presId="urn:microsoft.com/office/officeart/2005/8/layout/matrix3"/>
    <dgm:cxn modelId="{1772C96C-FFDE-496E-9651-C9FE4BAF1673}" type="presParOf" srcId="{24435C05-B288-404C-BB3F-8758937CED76}" destId="{A923607C-085A-4685-BDF9-BC6FC9A1D365}" srcOrd="1" destOrd="0" presId="urn:microsoft.com/office/officeart/2005/8/layout/matrix3"/>
    <dgm:cxn modelId="{0EDE2AE8-EA5D-493D-92DB-86DE2A9C173C}" type="presParOf" srcId="{24435C05-B288-404C-BB3F-8758937CED76}" destId="{BECD1BB3-5366-4792-B629-FB2A681D9FEC}" srcOrd="2" destOrd="0" presId="urn:microsoft.com/office/officeart/2005/8/layout/matrix3"/>
    <dgm:cxn modelId="{AC23A2C2-DF09-483B-B673-A0DC2DCA9BDB}" type="presParOf" srcId="{24435C05-B288-404C-BB3F-8758937CED76}" destId="{D6A5EA64-5B63-42EA-B4CF-9E13A28F09A2}" srcOrd="3" destOrd="0" presId="urn:microsoft.com/office/officeart/2005/8/layout/matrix3"/>
    <dgm:cxn modelId="{836A87F3-A9DA-45CD-8C74-1DF9CFB2498F}" type="presParOf" srcId="{24435C05-B288-404C-BB3F-8758937CED76}" destId="{B41C1A96-1244-4F96-97B7-E37C1E4B6FAF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07CCF5-98ED-420F-A999-45E91733DB67}">
      <dsp:nvSpPr>
        <dsp:cNvPr id="0" name=""/>
        <dsp:cNvSpPr/>
      </dsp:nvSpPr>
      <dsp:spPr>
        <a:xfrm>
          <a:off x="0" y="3570029"/>
          <a:ext cx="10515600" cy="7810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Kết quả của bài toán động học thuận được dùng làm cơ sở cho:</a:t>
          </a:r>
        </a:p>
      </dsp:txBody>
      <dsp:txXfrm>
        <a:off x="0" y="3570029"/>
        <a:ext cx="10515600" cy="421758"/>
      </dsp:txXfrm>
    </dsp:sp>
    <dsp:sp modelId="{061DCC36-516C-46E9-943F-229AACA3D013}">
      <dsp:nvSpPr>
        <dsp:cNvPr id="0" name=""/>
        <dsp:cNvSpPr/>
      </dsp:nvSpPr>
      <dsp:spPr>
        <a:xfrm>
          <a:off x="5134" y="3976167"/>
          <a:ext cx="3501776" cy="35927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solidFill>
                <a:srgbClr val="FF0000"/>
              </a:solidFill>
            </a:rPr>
            <a:t>Động học ngược (Inverse Kinematics)</a:t>
          </a:r>
        </a:p>
      </dsp:txBody>
      <dsp:txXfrm>
        <a:off x="5134" y="3976167"/>
        <a:ext cx="3501776" cy="359276"/>
      </dsp:txXfrm>
    </dsp:sp>
    <dsp:sp modelId="{D359610E-377C-4F08-A4F8-483ADE99247B}">
      <dsp:nvSpPr>
        <dsp:cNvPr id="0" name=""/>
        <dsp:cNvSpPr/>
      </dsp:nvSpPr>
      <dsp:spPr>
        <a:xfrm>
          <a:off x="3506911" y="3976167"/>
          <a:ext cx="3501776" cy="35927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solidFill>
                <a:srgbClr val="FF0000"/>
              </a:solidFill>
            </a:rPr>
            <a:t>Phân tích vận tốc, gia tốc</a:t>
          </a:r>
        </a:p>
      </dsp:txBody>
      <dsp:txXfrm>
        <a:off x="3506911" y="3976167"/>
        <a:ext cx="3501776" cy="359276"/>
      </dsp:txXfrm>
    </dsp:sp>
    <dsp:sp modelId="{6A526226-B5D9-431D-8B6A-FF0823EEDE55}">
      <dsp:nvSpPr>
        <dsp:cNvPr id="0" name=""/>
        <dsp:cNvSpPr/>
      </dsp:nvSpPr>
      <dsp:spPr>
        <a:xfrm>
          <a:off x="7008688" y="3976167"/>
          <a:ext cx="3501776" cy="35927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solidFill>
                <a:srgbClr val="FF0000"/>
              </a:solidFill>
            </a:rPr>
            <a:t>Mô phỏng và điều khiển chuyển động</a:t>
          </a:r>
        </a:p>
      </dsp:txBody>
      <dsp:txXfrm>
        <a:off x="7008688" y="3976167"/>
        <a:ext cx="3501776" cy="359276"/>
      </dsp:txXfrm>
    </dsp:sp>
    <dsp:sp modelId="{D0333951-B562-4D1B-BFFF-0C96527CAF90}">
      <dsp:nvSpPr>
        <dsp:cNvPr id="0" name=""/>
        <dsp:cNvSpPr/>
      </dsp:nvSpPr>
      <dsp:spPr>
        <a:xfrm rot="10800000">
          <a:off x="0" y="2380512"/>
          <a:ext cx="10515600" cy="1201232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Lập ma trận biến đổi từng khâu và nhân chuỗi ma trận tìm vị trí</a:t>
          </a:r>
        </a:p>
      </dsp:txBody>
      <dsp:txXfrm rot="10800000">
        <a:off x="0" y="2380512"/>
        <a:ext cx="10515600" cy="780525"/>
      </dsp:txXfrm>
    </dsp:sp>
    <dsp:sp modelId="{77B654A1-5FD7-4E4A-80A0-BDA5D825A7A3}">
      <dsp:nvSpPr>
        <dsp:cNvPr id="0" name=""/>
        <dsp:cNvSpPr/>
      </dsp:nvSpPr>
      <dsp:spPr>
        <a:xfrm rot="10800000">
          <a:off x="0" y="1190996"/>
          <a:ext cx="10515600" cy="1201232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Thiết Lập trục và bảng DH</a:t>
          </a:r>
        </a:p>
      </dsp:txBody>
      <dsp:txXfrm rot="10800000">
        <a:off x="0" y="1190996"/>
        <a:ext cx="10515600" cy="780525"/>
      </dsp:txXfrm>
    </dsp:sp>
    <dsp:sp modelId="{A4470DA9-B98E-48E6-87AD-5E7B142836CD}">
      <dsp:nvSpPr>
        <dsp:cNvPr id="0" name=""/>
        <dsp:cNvSpPr/>
      </dsp:nvSpPr>
      <dsp:spPr>
        <a:xfrm rot="10800000">
          <a:off x="0" y="1479"/>
          <a:ext cx="10515600" cy="1201232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Xác định cấu trúc và biến khớp</a:t>
          </a:r>
        </a:p>
      </dsp:txBody>
      <dsp:txXfrm rot="10800000">
        <a:off x="0" y="1479"/>
        <a:ext cx="10515600" cy="78052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E6F240-EECB-4031-9E1B-E38199BAC129}">
      <dsp:nvSpPr>
        <dsp:cNvPr id="0" name=""/>
        <dsp:cNvSpPr/>
      </dsp:nvSpPr>
      <dsp:spPr>
        <a:xfrm>
          <a:off x="732157" y="0"/>
          <a:ext cx="5631943" cy="5631943"/>
        </a:xfrm>
        <a:prstGeom prst="diamond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A923607C-085A-4685-BDF9-BC6FC9A1D365}">
      <dsp:nvSpPr>
        <dsp:cNvPr id="0" name=""/>
        <dsp:cNvSpPr/>
      </dsp:nvSpPr>
      <dsp:spPr>
        <a:xfrm>
          <a:off x="1267192" y="535034"/>
          <a:ext cx="2196457" cy="2196457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Viết lại phương trình động học thuận </a:t>
          </a:r>
        </a:p>
      </dsp:txBody>
      <dsp:txXfrm>
        <a:off x="1374414" y="642256"/>
        <a:ext cx="1982013" cy="1982013"/>
      </dsp:txXfrm>
    </dsp:sp>
    <dsp:sp modelId="{BECD1BB3-5366-4792-B629-FB2A681D9FEC}">
      <dsp:nvSpPr>
        <dsp:cNvPr id="0" name=""/>
        <dsp:cNvSpPr/>
      </dsp:nvSpPr>
      <dsp:spPr>
        <a:xfrm>
          <a:off x="3632608" y="535034"/>
          <a:ext cx="2196457" cy="2196457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Giải theo từng biến khớp</a:t>
          </a:r>
        </a:p>
      </dsp:txBody>
      <dsp:txXfrm>
        <a:off x="3739830" y="642256"/>
        <a:ext cx="1982013" cy="1982013"/>
      </dsp:txXfrm>
    </dsp:sp>
    <dsp:sp modelId="{D6A5EA64-5B63-42EA-B4CF-9E13A28F09A2}">
      <dsp:nvSpPr>
        <dsp:cNvPr id="0" name=""/>
        <dsp:cNvSpPr/>
      </dsp:nvSpPr>
      <dsp:spPr>
        <a:xfrm>
          <a:off x="1267192" y="2900450"/>
          <a:ext cx="2196457" cy="2196457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Kiểm tra miền làm việc</a:t>
          </a:r>
        </a:p>
      </dsp:txBody>
      <dsp:txXfrm>
        <a:off x="1374414" y="3007672"/>
        <a:ext cx="1982013" cy="1982013"/>
      </dsp:txXfrm>
    </dsp:sp>
    <dsp:sp modelId="{B41C1A96-1244-4F96-97B7-E37C1E4B6FAF}">
      <dsp:nvSpPr>
        <dsp:cNvPr id="0" name=""/>
        <dsp:cNvSpPr/>
      </dsp:nvSpPr>
      <dsp:spPr>
        <a:xfrm>
          <a:off x="3632608" y="2900450"/>
          <a:ext cx="2196457" cy="2196457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Xác minh nghiệm</a:t>
          </a:r>
        </a:p>
      </dsp:txBody>
      <dsp:txXfrm>
        <a:off x="3739830" y="3007672"/>
        <a:ext cx="1982013" cy="198201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1T04:26:46.8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24575,'6'0'0,"6"0"0,2 0 0,-1 0-8191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1T04:26:54.0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69D7E1-E5AC-4AB7-95CD-6E57287A7EEF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20F01A-602A-42CF-8886-814D79988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220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BB1F5-3432-BE36-3C8F-D9F5CCA5A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FFEF56-886B-F8E2-0CF7-0086FA6FAA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E51D40-B47C-05F7-C33A-F0E6BB8E56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D00AD3-2C80-A586-B4B4-596D84813C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20F01A-602A-42CF-8886-814D7998854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701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5CD30-11BF-522A-2CF9-B2C8348EA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B7B93F-3C13-46B8-7550-D23408BC79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E89F5E-EBFF-7C75-181E-93280114EA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141441-29FD-1F1C-5349-E9DF17C68D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20F01A-602A-42CF-8886-814D7998854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0339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E7FCA-0645-547B-25DA-B98B114A2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E523D7-A632-2FE6-FC98-CC14145878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7F379A-7803-5121-FB1F-8510AABA2E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74C80F-6EAB-3DCD-1DF1-8B67450BA1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20F01A-602A-42CF-8886-814D7998854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5142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20F01A-602A-42CF-8886-814D7998854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3775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07012-83A2-D8A3-341A-98738F0E1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147009-15B9-EAD9-0694-74222CA48E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D3F66F-F0C7-B308-F17E-3A482E1F54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7AB484-0425-6EAE-9C06-6B5270FBF8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20F01A-602A-42CF-8886-814D7998854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3540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E44D7-C709-1B31-64C3-A894FD8FD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F13B4F-18CB-1450-0E26-A959F435BC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650120-722F-9B7F-CE1E-27C9855B2E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BEB843-0D66-1D21-8972-05C5A5FFC2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20F01A-602A-42CF-8886-814D7998854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3471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37B42-C3FD-AB2D-0E21-137D769BB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A2288E-236A-6916-FCBD-78CCE046A7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8FC43E-AF49-916E-8F90-8230EC795F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055FD9-0BEA-AD60-E296-17CAA38757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20F01A-602A-42CF-8886-814D7998854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6936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4B65C-6535-B8B0-5140-BD3ECAB6C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30685D-7936-301A-BFB5-83931FAF1D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90C9E5-54BB-E2F3-C04D-5FCDCC753C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66FC7E-37C3-C93C-282E-B2DE4114B0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20F01A-602A-42CF-8886-814D7998854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1326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DE779-09EA-F3B0-11CA-A1FFD3A93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D2929A-F00B-FE8B-86B1-A909CC21EF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B6C833-25BF-4494-1DEE-C1D2C2B8D8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69A3FC-169A-3DAF-19F6-A02ED3DD6B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20F01A-602A-42CF-8886-814D7998854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8251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8BD73-041F-99CF-6DA2-37D47FBD5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20E142-270B-CE0F-DB83-BAE6E61FBE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5DE0D1-9F49-B228-7E16-25B1390500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F2A241-79D1-CA3B-CF72-4C764B005D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20F01A-602A-42CF-8886-814D7998854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8747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973E5-DFBC-2394-2699-6613F7293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7EB549-805A-0B30-1FE8-9B9250CA28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068EF1-2B20-1BE8-6869-B41EB678F1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527B40-72D5-7631-A4B0-306772F951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20F01A-602A-42CF-8886-814D7998854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6179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3ABE6-A090-2F21-C91B-4672C0DA5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C70C46-F255-A225-8F6B-3F8A2881CF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E5F45D-38D7-1A2E-A6B1-2A6A01320B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C6FF83-50BE-6598-D730-984AB02199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20F01A-602A-42CF-8886-814D7998854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4191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C2B35-A4BC-FB88-2247-B9A23503C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A26DD1-3610-2B34-C840-6A7C64B313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778E28-1A92-88C9-DE81-2366C69B76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C3BD8C-1935-C7F3-5FC7-BC476D52F6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20F01A-602A-42CF-8886-814D7998854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7256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1EAA0-F15F-F50B-86DB-5C324240C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6EDFA7-97C9-3E06-CC8F-81B8DC6041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663448-460E-6931-09A3-3304059C02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8D8622-1898-FBBF-8771-310302F206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20F01A-602A-42CF-8886-814D7998854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8840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2D24D-5826-4336-F0A2-E402DF495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FC4547-184D-0A43-3D54-654BC2E957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8535B3-5227-9455-07F7-3DC0CDF5E2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D93B67-BF80-F1BE-190A-59A3AFCEBD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20F01A-602A-42CF-8886-814D7998854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6397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CC4CB-39AD-F287-F1AF-F44F96AF4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CC902B-3C8D-01C6-F419-39C8F0AA3F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082C16-0E13-732B-EE05-B891AFB0D0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739624-184E-E7D3-FAE8-14C2393B3E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20F01A-602A-42CF-8886-814D7998854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1820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3ABF0-E3A3-C5C0-5317-575A9D196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5858E5-3B4D-43B2-DD0D-BE1CF8494B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8A7182-B0D5-3E22-472B-3132919F6C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0806E3-8455-E221-B721-459B0EF8C3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20F01A-602A-42CF-8886-814D7998854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49081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4B83F-AE8C-8669-72AB-9DD793327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5476F9-5B78-CBB2-C1D3-BAB5256A67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B8C17C-FFB0-FF8C-71D6-7701277FB4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C9DDBF-1CD9-02C9-B66C-ADAB6FA227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20F01A-602A-42CF-8886-814D7998854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6055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5026" y="6353004"/>
            <a:ext cx="2743200" cy="365125"/>
          </a:xfrm>
        </p:spPr>
        <p:txBody>
          <a:bodyPr/>
          <a:lstStyle/>
          <a:p>
            <a:fld id="{154F4D4A-FD71-41E6-BED5-CF551BFDBC37}" type="datetimeFigureOut">
              <a:rPr lang="en-US" smtClean="0"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40198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28310" y="6356350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2192000" cy="6486525"/>
          </a:xfrm>
          <a:prstGeom prst="rect">
            <a:avLst/>
          </a:prstGeom>
          <a:solidFill>
            <a:srgbClr val="22377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>
          <a:xfrm>
            <a:off x="785026" y="3704652"/>
            <a:ext cx="10583741" cy="997492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4800" b="1" baseline="0">
                <a:solidFill>
                  <a:schemeClr val="bg1"/>
                </a:solidFill>
                <a:latin typeface="UTM Avo" panose="02040603050506020204" pitchFamily="18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CHỦ ĐỀ</a:t>
            </a:r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85026" y="4952857"/>
            <a:ext cx="10583741" cy="38490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aseline="0">
                <a:solidFill>
                  <a:schemeClr val="bg1"/>
                </a:solidFill>
                <a:latin typeface="UTM Avo" panose="020406030505060202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Nội</a:t>
            </a:r>
            <a:r>
              <a:rPr lang="en-US" dirty="0"/>
              <a:t> dung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8397" y="1582451"/>
            <a:ext cx="8678656" cy="178795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DD9F73E-492F-4733-959D-A5749AFFFAAF}"/>
              </a:ext>
            </a:extLst>
          </p:cNvPr>
          <p:cNvSpPr txBox="1"/>
          <p:nvPr userDrawn="1"/>
        </p:nvSpPr>
        <p:spPr>
          <a:xfrm>
            <a:off x="10209320" y="6613753"/>
            <a:ext cx="1842473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UTM Avo" panose="02040603050506020204" pitchFamily="18" charset="0"/>
              </a:rPr>
              <a:t>phenikaa-uni.edu.vn</a:t>
            </a:r>
          </a:p>
        </p:txBody>
      </p:sp>
      <p:pic>
        <p:nvPicPr>
          <p:cNvPr id="8" name="Picture 7" descr="Shape&#10;&#10;Description automatically generated with low confidence">
            <a:extLst>
              <a:ext uri="{FF2B5EF4-FFF2-40B4-BE49-F238E27FC236}">
                <a16:creationId xmlns:a16="http://schemas.microsoft.com/office/drawing/2014/main" id="{D68303B8-D2C5-465B-9346-49A8E223021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7809" y="6613291"/>
            <a:ext cx="215444" cy="21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443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2794" y="6362529"/>
            <a:ext cx="2743200" cy="365125"/>
          </a:xfrm>
        </p:spPr>
        <p:txBody>
          <a:bodyPr/>
          <a:lstStyle/>
          <a:p>
            <a:fld id="{154F4D4A-FD71-41E6-BED5-CF551BFDBC37}" type="datetimeFigureOut">
              <a:rPr lang="en-US" smtClean="0"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08593" y="6356350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142D89-B98B-F946-A31D-7ACA5974D791}"/>
              </a:ext>
            </a:extLst>
          </p:cNvPr>
          <p:cNvSpPr txBox="1"/>
          <p:nvPr userDrawn="1"/>
        </p:nvSpPr>
        <p:spPr>
          <a:xfrm>
            <a:off x="10209320" y="6613753"/>
            <a:ext cx="1842473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UTM Avo" panose="02040603050506020204" pitchFamily="18" charset="0"/>
              </a:rPr>
              <a:t>phenikaa-uni.edu.vn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656947" y="227160"/>
            <a:ext cx="7728682" cy="553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300" b="1" baseline="0">
                <a:solidFill>
                  <a:srgbClr val="223771"/>
                </a:solidFill>
                <a:latin typeface="UTM Avo" panose="02040603050506020204" pitchFamily="18" charset="0"/>
              </a:defRPr>
            </a:lvl1pPr>
          </a:lstStyle>
          <a:p>
            <a:r>
              <a:rPr lang="en-US" dirty="0"/>
              <a:t>CHỦ ĐỀ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418" y="235206"/>
            <a:ext cx="2732129" cy="55022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57A6886-747B-4528-84CF-32010B2D52E6}"/>
              </a:ext>
            </a:extLst>
          </p:cNvPr>
          <p:cNvSpPr/>
          <p:nvPr userDrawn="1"/>
        </p:nvSpPr>
        <p:spPr>
          <a:xfrm>
            <a:off x="532658" y="0"/>
            <a:ext cx="89641" cy="780449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223771"/>
              </a:highligh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68F346-4FF9-4D4E-85DE-D92031C6F8EC}"/>
              </a:ext>
            </a:extLst>
          </p:cNvPr>
          <p:cNvSpPr/>
          <p:nvPr userDrawn="1"/>
        </p:nvSpPr>
        <p:spPr>
          <a:xfrm>
            <a:off x="408371" y="0"/>
            <a:ext cx="124288" cy="914400"/>
          </a:xfrm>
          <a:prstGeom prst="rect">
            <a:avLst/>
          </a:prstGeom>
          <a:solidFill>
            <a:srgbClr val="223771"/>
          </a:solidFill>
          <a:ln>
            <a:solidFill>
              <a:srgbClr val="2237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223771"/>
              </a:highlight>
            </a:endParaRPr>
          </a:p>
        </p:txBody>
      </p:sp>
      <p:pic>
        <p:nvPicPr>
          <p:cNvPr id="10" name="Picture 9" descr="Shape&#10;&#10;Description automatically generated with low confidence">
            <a:extLst>
              <a:ext uri="{FF2B5EF4-FFF2-40B4-BE49-F238E27FC236}">
                <a16:creationId xmlns:a16="http://schemas.microsoft.com/office/drawing/2014/main" id="{98CA0862-FEB0-4A0F-B552-F28AA18E53F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7809" y="6613291"/>
            <a:ext cx="215444" cy="21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312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4D4A-FD71-41E6-BED5-CF551BFDBC37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656947" y="227160"/>
            <a:ext cx="7728682" cy="553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300" b="1" baseline="0">
                <a:solidFill>
                  <a:srgbClr val="223771"/>
                </a:solidFill>
                <a:latin typeface="UTM Avo" panose="02040603050506020204" pitchFamily="18" charset="0"/>
              </a:defRPr>
            </a:lvl1pPr>
          </a:lstStyle>
          <a:p>
            <a:r>
              <a:rPr lang="en-US" dirty="0"/>
              <a:t>CHỦ ĐỀ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418" y="235206"/>
            <a:ext cx="2732129" cy="5502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70D2DC2-9AD0-46C9-A2CB-FB4AE530CF63}"/>
              </a:ext>
            </a:extLst>
          </p:cNvPr>
          <p:cNvSpPr txBox="1"/>
          <p:nvPr userDrawn="1"/>
        </p:nvSpPr>
        <p:spPr>
          <a:xfrm>
            <a:off x="10209320" y="6613753"/>
            <a:ext cx="1842473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UTM Avo" panose="02040603050506020204" pitchFamily="18" charset="0"/>
              </a:rPr>
              <a:t>phenikaa-uni.edu.vn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3C7BA3-5854-4C1A-AB26-8E83AFDB9C1C}"/>
              </a:ext>
            </a:extLst>
          </p:cNvPr>
          <p:cNvSpPr/>
          <p:nvPr userDrawn="1"/>
        </p:nvSpPr>
        <p:spPr>
          <a:xfrm>
            <a:off x="532659" y="0"/>
            <a:ext cx="124288" cy="780449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223771"/>
              </a:highligh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83F1D2-9457-47B7-950E-5B0EDF508580}"/>
              </a:ext>
            </a:extLst>
          </p:cNvPr>
          <p:cNvSpPr/>
          <p:nvPr userDrawn="1"/>
        </p:nvSpPr>
        <p:spPr>
          <a:xfrm>
            <a:off x="408371" y="0"/>
            <a:ext cx="124288" cy="914400"/>
          </a:xfrm>
          <a:prstGeom prst="rect">
            <a:avLst/>
          </a:prstGeom>
          <a:solidFill>
            <a:srgbClr val="223771"/>
          </a:solidFill>
          <a:ln>
            <a:solidFill>
              <a:srgbClr val="2237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223771"/>
              </a:highlight>
            </a:endParaRPr>
          </a:p>
        </p:txBody>
      </p:sp>
      <p:pic>
        <p:nvPicPr>
          <p:cNvPr id="11" name="Picture 10" descr="Shape&#10;&#10;Description automatically generated with low confidence">
            <a:extLst>
              <a:ext uri="{FF2B5EF4-FFF2-40B4-BE49-F238E27FC236}">
                <a16:creationId xmlns:a16="http://schemas.microsoft.com/office/drawing/2014/main" id="{A6031B82-2D8F-4555-BCC1-3115CFF967F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7809" y="6613291"/>
            <a:ext cx="215444" cy="21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905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4D4A-FD71-41E6-BED5-CF551BFDBC37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656947" y="227160"/>
            <a:ext cx="7728682" cy="553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300" b="1" baseline="0">
                <a:solidFill>
                  <a:srgbClr val="223771"/>
                </a:solidFill>
                <a:latin typeface="UTM Avo" panose="02040603050506020204" pitchFamily="18" charset="0"/>
              </a:defRPr>
            </a:lvl1pPr>
          </a:lstStyle>
          <a:p>
            <a:r>
              <a:rPr lang="en-US" dirty="0"/>
              <a:t>CHỦ ĐỀ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418" y="235206"/>
            <a:ext cx="2732129" cy="5502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236F995-2F29-4E8D-B342-1E962398505F}"/>
              </a:ext>
            </a:extLst>
          </p:cNvPr>
          <p:cNvSpPr txBox="1"/>
          <p:nvPr userDrawn="1"/>
        </p:nvSpPr>
        <p:spPr>
          <a:xfrm>
            <a:off x="10209320" y="6613753"/>
            <a:ext cx="1842473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UTM Avo" panose="02040603050506020204" pitchFamily="18" charset="0"/>
              </a:rPr>
              <a:t>phenikaa-uni.edu.vn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D95CFB-1B8A-4CB0-8949-11A244A80C5E}"/>
              </a:ext>
            </a:extLst>
          </p:cNvPr>
          <p:cNvSpPr/>
          <p:nvPr userDrawn="1"/>
        </p:nvSpPr>
        <p:spPr>
          <a:xfrm>
            <a:off x="532659" y="0"/>
            <a:ext cx="124288" cy="780449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223771"/>
              </a:highligh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36865C-7183-40E8-9323-035E78C460BB}"/>
              </a:ext>
            </a:extLst>
          </p:cNvPr>
          <p:cNvSpPr/>
          <p:nvPr userDrawn="1"/>
        </p:nvSpPr>
        <p:spPr>
          <a:xfrm>
            <a:off x="408371" y="0"/>
            <a:ext cx="124288" cy="914400"/>
          </a:xfrm>
          <a:prstGeom prst="rect">
            <a:avLst/>
          </a:prstGeom>
          <a:solidFill>
            <a:srgbClr val="223771"/>
          </a:solidFill>
          <a:ln>
            <a:solidFill>
              <a:srgbClr val="2237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223771"/>
              </a:highlight>
            </a:endParaRPr>
          </a:p>
        </p:txBody>
      </p:sp>
      <p:pic>
        <p:nvPicPr>
          <p:cNvPr id="11" name="Picture 10" descr="Shape&#10;&#10;Description automatically generated with low confidence">
            <a:extLst>
              <a:ext uri="{FF2B5EF4-FFF2-40B4-BE49-F238E27FC236}">
                <a16:creationId xmlns:a16="http://schemas.microsoft.com/office/drawing/2014/main" id="{CEA2A297-F9C3-429B-B54D-7253A946ADE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7809" y="6613291"/>
            <a:ext cx="215444" cy="21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488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4D4A-FD71-41E6-BED5-CF551BFDBC37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656947" y="227160"/>
            <a:ext cx="7728682" cy="553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300" b="1" baseline="0">
                <a:solidFill>
                  <a:srgbClr val="223771"/>
                </a:solidFill>
                <a:latin typeface="UTM Avo" panose="02040603050506020204" pitchFamily="18" charset="0"/>
              </a:defRPr>
            </a:lvl1pPr>
          </a:lstStyle>
          <a:p>
            <a:r>
              <a:rPr lang="en-US" dirty="0"/>
              <a:t>CHỦ ĐỀ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418" y="235206"/>
            <a:ext cx="2732129" cy="5502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47F2710-EFA2-4019-B556-CAF8F057FD2D}"/>
              </a:ext>
            </a:extLst>
          </p:cNvPr>
          <p:cNvSpPr txBox="1"/>
          <p:nvPr userDrawn="1"/>
        </p:nvSpPr>
        <p:spPr>
          <a:xfrm>
            <a:off x="10209320" y="6613753"/>
            <a:ext cx="1842473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UTM Avo" panose="02040603050506020204" pitchFamily="18" charset="0"/>
              </a:rPr>
              <a:t>phenikaa-uni.edu.vn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C6CD87-31C4-44B8-B9A0-380487039ED3}"/>
              </a:ext>
            </a:extLst>
          </p:cNvPr>
          <p:cNvSpPr/>
          <p:nvPr userDrawn="1"/>
        </p:nvSpPr>
        <p:spPr>
          <a:xfrm>
            <a:off x="532659" y="0"/>
            <a:ext cx="124288" cy="780449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223771"/>
              </a:highligh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B82E290-CA2E-48B6-A6AC-DD17E567C209}"/>
              </a:ext>
            </a:extLst>
          </p:cNvPr>
          <p:cNvSpPr/>
          <p:nvPr userDrawn="1"/>
        </p:nvSpPr>
        <p:spPr>
          <a:xfrm>
            <a:off x="408371" y="0"/>
            <a:ext cx="124288" cy="914400"/>
          </a:xfrm>
          <a:prstGeom prst="rect">
            <a:avLst/>
          </a:prstGeom>
          <a:solidFill>
            <a:srgbClr val="223771"/>
          </a:solidFill>
          <a:ln>
            <a:solidFill>
              <a:srgbClr val="2237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223771"/>
              </a:highlight>
            </a:endParaRPr>
          </a:p>
        </p:txBody>
      </p:sp>
      <p:pic>
        <p:nvPicPr>
          <p:cNvPr id="11" name="Picture 10" descr="Shape&#10;&#10;Description automatically generated with low confidence">
            <a:extLst>
              <a:ext uri="{FF2B5EF4-FFF2-40B4-BE49-F238E27FC236}">
                <a16:creationId xmlns:a16="http://schemas.microsoft.com/office/drawing/2014/main" id="{6FA9A129-6464-4B54-8084-94C471855C7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7809" y="6613291"/>
            <a:ext cx="215444" cy="21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015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263685" y="2846231"/>
            <a:ext cx="4417452" cy="1460428"/>
          </a:xfrm>
          <a:prstGeom prst="rect">
            <a:avLst/>
          </a:prstGeom>
        </p:spPr>
        <p:txBody>
          <a:bodyPr anchor="b">
            <a:normAutofit/>
          </a:bodyPr>
          <a:lstStyle>
            <a:lvl1pPr algn="r">
              <a:defRPr sz="5600" b="1" baseline="0">
                <a:solidFill>
                  <a:srgbClr val="223771"/>
                </a:solidFill>
                <a:latin typeface="UTM Avo" panose="02040603050506020204" pitchFamily="18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CHỦ ĐỀ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63685" y="4429523"/>
            <a:ext cx="4417452" cy="75007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aseline="0">
                <a:latin typeface="UTM Avo" panose="020406030505060202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Nội</a:t>
            </a:r>
            <a:r>
              <a:rPr lang="en-US" dirty="0"/>
              <a:t> dung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4D4A-FD71-41E6-BED5-CF551BFDBC37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2"/>
          <p:cNvSpPr>
            <a:spLocks noGrp="1"/>
          </p:cNvSpPr>
          <p:nvPr>
            <p:ph idx="13" hasCustomPrompt="1"/>
          </p:nvPr>
        </p:nvSpPr>
        <p:spPr>
          <a:xfrm>
            <a:off x="1" y="862149"/>
            <a:ext cx="7096258" cy="56319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latin typeface="UTM Avo" panose="02040603050506020204" pitchFamily="18" charset="0"/>
              </a:defRPr>
            </a:lvl1pPr>
          </a:lstStyle>
          <a:p>
            <a:pPr lvl="0"/>
            <a:r>
              <a:rPr lang="en-US" dirty="0"/>
              <a:t>Hình ảnh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418" y="235206"/>
            <a:ext cx="2732129" cy="55022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4A98EF6-B54D-4232-96A3-D71047796515}"/>
              </a:ext>
            </a:extLst>
          </p:cNvPr>
          <p:cNvSpPr txBox="1"/>
          <p:nvPr userDrawn="1"/>
        </p:nvSpPr>
        <p:spPr>
          <a:xfrm>
            <a:off x="10209320" y="6613753"/>
            <a:ext cx="1842473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UTM Avo" panose="02040603050506020204" pitchFamily="18" charset="0"/>
              </a:rPr>
              <a:t>phenikaa-uni.edu.vn</a:t>
            </a:r>
          </a:p>
        </p:txBody>
      </p:sp>
      <p:pic>
        <p:nvPicPr>
          <p:cNvPr id="12" name="Picture 11" descr="Shape&#10;&#10;Description automatically generated with low confidence">
            <a:extLst>
              <a:ext uri="{FF2B5EF4-FFF2-40B4-BE49-F238E27FC236}">
                <a16:creationId xmlns:a16="http://schemas.microsoft.com/office/drawing/2014/main" id="{D486C0A1-B022-43A4-A558-B9E8916BA8C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7809" y="6613291"/>
            <a:ext cx="215444" cy="21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738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latin typeface="UTM Avo" panose="020406030505060202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UTM Avo" panose="02040603050506020204" pitchFamily="18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4D4A-FD71-41E6-BED5-CF551BFDBC37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418" y="235206"/>
            <a:ext cx="2732129" cy="5502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BF674A0-D445-4C14-83CD-38226D1439C8}"/>
              </a:ext>
            </a:extLst>
          </p:cNvPr>
          <p:cNvSpPr txBox="1"/>
          <p:nvPr userDrawn="1"/>
        </p:nvSpPr>
        <p:spPr>
          <a:xfrm>
            <a:off x="10209320" y="6613753"/>
            <a:ext cx="1842473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UTM Avo" panose="02040603050506020204" pitchFamily="18" charset="0"/>
              </a:rPr>
              <a:t>phenikaa-uni.edu.vn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DC1734-67C3-4443-8460-F8DBA3D27FC6}"/>
              </a:ext>
            </a:extLst>
          </p:cNvPr>
          <p:cNvSpPr/>
          <p:nvPr userDrawn="1"/>
        </p:nvSpPr>
        <p:spPr>
          <a:xfrm>
            <a:off x="532659" y="0"/>
            <a:ext cx="124288" cy="780449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223771"/>
              </a:highlight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088CD-189D-4350-AE5C-EA4E5DEDE303}"/>
              </a:ext>
            </a:extLst>
          </p:cNvPr>
          <p:cNvSpPr/>
          <p:nvPr userDrawn="1"/>
        </p:nvSpPr>
        <p:spPr>
          <a:xfrm>
            <a:off x="408371" y="0"/>
            <a:ext cx="124288" cy="914400"/>
          </a:xfrm>
          <a:prstGeom prst="rect">
            <a:avLst/>
          </a:prstGeom>
          <a:solidFill>
            <a:srgbClr val="223771"/>
          </a:solidFill>
          <a:ln>
            <a:solidFill>
              <a:srgbClr val="2237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223771"/>
              </a:highlight>
            </a:endParaRPr>
          </a:p>
        </p:txBody>
      </p:sp>
      <p:pic>
        <p:nvPicPr>
          <p:cNvPr id="12" name="Picture 11" descr="Shape&#10;&#10;Description automatically generated with low confidence">
            <a:extLst>
              <a:ext uri="{FF2B5EF4-FFF2-40B4-BE49-F238E27FC236}">
                <a16:creationId xmlns:a16="http://schemas.microsoft.com/office/drawing/2014/main" id="{C5E0C745-AAEA-42E0-BD19-9FFC173DF75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7809" y="6613291"/>
            <a:ext cx="215444" cy="21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464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01899" y="351789"/>
            <a:ext cx="8061101" cy="92276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000" b="1">
                <a:solidFill>
                  <a:srgbClr val="223771"/>
                </a:solidFill>
                <a:latin typeface="UTM Avo" panose="02040603050506020204" pitchFamily="18" charset="0"/>
              </a:defRPr>
            </a:lvl1pPr>
          </a:lstStyle>
          <a:p>
            <a:r>
              <a:rPr lang="en-US" dirty="0" err="1"/>
              <a:t>Chủ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701899" y="1639781"/>
            <a:ext cx="3336702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UTM Avo" panose="02040603050506020204" pitchFamily="18" charset="0"/>
              </a:defRPr>
            </a:lvl1pPr>
            <a:lvl2pPr>
              <a:defRPr>
                <a:latin typeface="UTM Avo" panose="02040603050506020204" pitchFamily="18" charset="0"/>
              </a:defRPr>
            </a:lvl2pPr>
            <a:lvl3pPr>
              <a:defRPr>
                <a:latin typeface="UTM Avo" panose="02040603050506020204" pitchFamily="18" charset="0"/>
              </a:defRPr>
            </a:lvl3pPr>
            <a:lvl4pPr>
              <a:defRPr>
                <a:latin typeface="UTM Avo" panose="02040603050506020204" pitchFamily="18" charset="0"/>
              </a:defRPr>
            </a:lvl4pPr>
            <a:lvl5pPr>
              <a:defRPr>
                <a:latin typeface="UTM Avo" panose="02040603050506020204" pitchFamily="18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11710" y="1639781"/>
            <a:ext cx="3331872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UTM Avo" panose="02040603050506020204" pitchFamily="18" charset="0"/>
              </a:defRPr>
            </a:lvl1pPr>
            <a:lvl2pPr>
              <a:defRPr>
                <a:latin typeface="UTM Avo" panose="02040603050506020204" pitchFamily="18" charset="0"/>
              </a:defRPr>
            </a:lvl2pPr>
            <a:lvl3pPr>
              <a:defRPr>
                <a:latin typeface="UTM Avo" panose="02040603050506020204" pitchFamily="18" charset="0"/>
              </a:defRPr>
            </a:lvl3pPr>
            <a:lvl4pPr>
              <a:defRPr>
                <a:latin typeface="UTM Avo" panose="02040603050506020204" pitchFamily="18" charset="0"/>
              </a:defRPr>
            </a:lvl4pPr>
            <a:lvl5pPr>
              <a:defRPr>
                <a:latin typeface="UTM Avo" panose="02040603050506020204" pitchFamily="18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4D4A-FD71-41E6-BED5-CF551BFDBC37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3"/>
          <p:cNvSpPr>
            <a:spLocks noGrp="1"/>
          </p:cNvSpPr>
          <p:nvPr>
            <p:ph sz="half" idx="13" hasCustomPrompt="1"/>
          </p:nvPr>
        </p:nvSpPr>
        <p:spPr>
          <a:xfrm>
            <a:off x="8426539" y="1639781"/>
            <a:ext cx="3331872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UTM Avo" panose="02040603050506020204" pitchFamily="18" charset="0"/>
              </a:defRPr>
            </a:lvl1pPr>
            <a:lvl2pPr>
              <a:defRPr>
                <a:latin typeface="UTM Avo" panose="02040603050506020204" pitchFamily="18" charset="0"/>
              </a:defRPr>
            </a:lvl2pPr>
            <a:lvl3pPr>
              <a:defRPr>
                <a:latin typeface="UTM Avo" panose="02040603050506020204" pitchFamily="18" charset="0"/>
              </a:defRPr>
            </a:lvl3pPr>
            <a:lvl4pPr>
              <a:defRPr>
                <a:latin typeface="UTM Avo" panose="02040603050506020204" pitchFamily="18" charset="0"/>
              </a:defRPr>
            </a:lvl4pPr>
            <a:lvl5pPr>
              <a:defRPr>
                <a:latin typeface="UTM Avo" panose="02040603050506020204" pitchFamily="18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418" y="235206"/>
            <a:ext cx="2732129" cy="55022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59A717A-9473-4D01-AFFA-39323BC3FE1F}"/>
              </a:ext>
            </a:extLst>
          </p:cNvPr>
          <p:cNvSpPr txBox="1"/>
          <p:nvPr userDrawn="1"/>
        </p:nvSpPr>
        <p:spPr>
          <a:xfrm>
            <a:off x="10209320" y="6613753"/>
            <a:ext cx="1842473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UTM Avo" panose="02040603050506020204" pitchFamily="18" charset="0"/>
              </a:rPr>
              <a:t>phenikaa-uni.edu.vn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CA6CBD4-D234-414D-AB38-1B0372324231}"/>
              </a:ext>
            </a:extLst>
          </p:cNvPr>
          <p:cNvSpPr/>
          <p:nvPr userDrawn="1"/>
        </p:nvSpPr>
        <p:spPr>
          <a:xfrm>
            <a:off x="532659" y="0"/>
            <a:ext cx="124288" cy="780449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223771"/>
              </a:highlight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F5E9A1D-9908-4963-BBCA-B9603513672F}"/>
              </a:ext>
            </a:extLst>
          </p:cNvPr>
          <p:cNvSpPr/>
          <p:nvPr userDrawn="1"/>
        </p:nvSpPr>
        <p:spPr>
          <a:xfrm>
            <a:off x="408371" y="0"/>
            <a:ext cx="124288" cy="914400"/>
          </a:xfrm>
          <a:prstGeom prst="rect">
            <a:avLst/>
          </a:prstGeom>
          <a:solidFill>
            <a:srgbClr val="223771"/>
          </a:solidFill>
          <a:ln>
            <a:solidFill>
              <a:srgbClr val="2237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223771"/>
              </a:highlight>
            </a:endParaRPr>
          </a:p>
        </p:txBody>
      </p:sp>
      <p:pic>
        <p:nvPicPr>
          <p:cNvPr id="14" name="Picture 13" descr="Shape&#10;&#10;Description automatically generated with low confidence">
            <a:extLst>
              <a:ext uri="{FF2B5EF4-FFF2-40B4-BE49-F238E27FC236}">
                <a16:creationId xmlns:a16="http://schemas.microsoft.com/office/drawing/2014/main" id="{308D8CB6-ADE4-4812-9DD7-2FB15552B44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7809" y="6613291"/>
            <a:ext cx="215444" cy="21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545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4D4A-FD71-41E6-BED5-CF551BFDBC37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692" y="90029"/>
            <a:ext cx="2539035" cy="5113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2BE6C77-C511-4273-8155-2D0484084255}"/>
              </a:ext>
            </a:extLst>
          </p:cNvPr>
          <p:cNvSpPr txBox="1"/>
          <p:nvPr userDrawn="1"/>
        </p:nvSpPr>
        <p:spPr>
          <a:xfrm>
            <a:off x="10209320" y="6613753"/>
            <a:ext cx="1842473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UTM Avo" panose="02040603050506020204" pitchFamily="18" charset="0"/>
              </a:rPr>
              <a:t>phenikaa-uni.edu.vn</a:t>
            </a:r>
          </a:p>
        </p:txBody>
      </p:sp>
      <p:pic>
        <p:nvPicPr>
          <p:cNvPr id="10" name="Picture 9" descr="Shape&#10;&#10;Description automatically generated with low confidence">
            <a:extLst>
              <a:ext uri="{FF2B5EF4-FFF2-40B4-BE49-F238E27FC236}">
                <a16:creationId xmlns:a16="http://schemas.microsoft.com/office/drawing/2014/main" id="{F459F8FB-0B0E-4294-9F5F-555C0C4C97A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7809" y="6613291"/>
            <a:ext cx="215444" cy="21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07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4D4A-FD71-41E6-BED5-CF551BFDBC37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418" y="235206"/>
            <a:ext cx="2732129" cy="5502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7A9DA5F-F00A-45CE-8679-BE1CD99F449B}"/>
              </a:ext>
            </a:extLst>
          </p:cNvPr>
          <p:cNvSpPr txBox="1"/>
          <p:nvPr userDrawn="1"/>
        </p:nvSpPr>
        <p:spPr>
          <a:xfrm>
            <a:off x="10209320" y="6613753"/>
            <a:ext cx="1842473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UTM Avo" panose="02040603050506020204" pitchFamily="18" charset="0"/>
              </a:rPr>
              <a:t>phenikaa-uni.edu.vn</a:t>
            </a:r>
          </a:p>
        </p:txBody>
      </p:sp>
      <p:pic>
        <p:nvPicPr>
          <p:cNvPr id="8" name="Picture 7" descr="Shape&#10;&#10;Description automatically generated with low confidence">
            <a:extLst>
              <a:ext uri="{FF2B5EF4-FFF2-40B4-BE49-F238E27FC236}">
                <a16:creationId xmlns:a16="http://schemas.microsoft.com/office/drawing/2014/main" id="{DA828293-FDB2-4B6D-9623-EEABA0C7C47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7809" y="6613291"/>
            <a:ext cx="215444" cy="21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315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UTM Avo" panose="020406030505060202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UTM Avo" panose="02040603050506020204" pitchFamily="18" charset="0"/>
              </a:defRPr>
            </a:lvl1pPr>
            <a:lvl2pPr>
              <a:defRPr>
                <a:latin typeface="UTM Avo" panose="02040603050506020204" pitchFamily="18" charset="0"/>
              </a:defRPr>
            </a:lvl2pPr>
            <a:lvl3pPr>
              <a:defRPr>
                <a:latin typeface="UTM Avo" panose="02040603050506020204" pitchFamily="18" charset="0"/>
              </a:defRPr>
            </a:lvl3pPr>
            <a:lvl4pPr>
              <a:defRPr>
                <a:latin typeface="UTM Avo" panose="02040603050506020204" pitchFamily="18" charset="0"/>
              </a:defRPr>
            </a:lvl4pPr>
            <a:lvl5pPr>
              <a:defRPr>
                <a:latin typeface="UTM Avo" panose="02040603050506020204" pitchFamily="18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4D4A-FD71-41E6-BED5-CF551BFDBC37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692" y="90029"/>
            <a:ext cx="2539035" cy="511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300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7AE6AC-9427-433F-AC00-F723CA5DD87C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1484" y="636252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UTM Avo" panose="02040603050506020204" pitchFamily="18" charset="0"/>
              </a:defRPr>
            </a:lvl1pPr>
          </a:lstStyle>
          <a:p>
            <a:fld id="{154F4D4A-FD71-41E6-BED5-CF551BFDBC37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UTM Avo" panose="02040603050506020204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UTM Avo" panose="02040603050506020204" pitchFamily="18" charset="0"/>
              </a:defRPr>
            </a:lvl1pPr>
          </a:lstStyle>
          <a:p>
            <a:fld id="{086B6608-6F69-448F-99DC-C9E613BFB696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0" y="6494093"/>
            <a:ext cx="12192000" cy="373091"/>
            <a:chOff x="0" y="1661375"/>
            <a:chExt cx="12192000" cy="373091"/>
          </a:xfrm>
        </p:grpSpPr>
        <p:sp>
          <p:nvSpPr>
            <p:cNvPr id="8" name="Rectangle 7"/>
            <p:cNvSpPr/>
            <p:nvPr/>
          </p:nvSpPr>
          <p:spPr>
            <a:xfrm>
              <a:off x="0" y="1661375"/>
              <a:ext cx="12192000" cy="109728"/>
            </a:xfrm>
            <a:prstGeom prst="rect">
              <a:avLst/>
            </a:prstGeom>
            <a:solidFill>
              <a:srgbClr val="F265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UTM Avo" panose="02040603050506020204" pitchFamily="18" charset="0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0" y="1760146"/>
              <a:ext cx="12192000" cy="274320"/>
            </a:xfrm>
            <a:prstGeom prst="rect">
              <a:avLst/>
            </a:prstGeom>
            <a:solidFill>
              <a:srgbClr val="2237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UTM Avo" panose="020406030505060202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70836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2" r:id="rId3"/>
    <p:sldLayoutId id="2147483661" r:id="rId4"/>
    <p:sldLayoutId id="2147483663" r:id="rId5"/>
    <p:sldLayoutId id="2147483660" r:id="rId6"/>
    <p:sldLayoutId id="2147483651" r:id="rId7"/>
    <p:sldLayoutId id="2147483652" r:id="rId8"/>
    <p:sldLayoutId id="2147483654" r:id="rId9"/>
    <p:sldLayoutId id="2147483655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customXml" Target="../ink/ink1.xml"/><Relationship Id="rId7" Type="http://schemas.openxmlformats.org/officeDocument/2006/relationships/customXml" Target="../ink/ink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1FBF3-8459-4CBE-8502-1C0A4CC3B8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1049" y="3599848"/>
            <a:ext cx="11062405" cy="831487"/>
          </a:xfrm>
        </p:spPr>
        <p:txBody>
          <a:bodyPr>
            <a:normAutofit fontScale="90000"/>
          </a:bodyPr>
          <a:lstStyle/>
          <a:p>
            <a:r>
              <a:rPr lang="en-US" sz="4000" dirty="0" err="1">
                <a:latin typeface="Arial" panose="020B0604020202020204" pitchFamily="34" charset="0"/>
              </a:rPr>
              <a:t>Lập</a:t>
            </a:r>
            <a:r>
              <a:rPr lang="en-US" sz="4000" dirty="0">
                <a:latin typeface="Arial" panose="020B0604020202020204" pitchFamily="34" charset="0"/>
              </a:rPr>
              <a:t> </a:t>
            </a:r>
            <a:r>
              <a:rPr lang="en-US" sz="4000" dirty="0" err="1">
                <a:latin typeface="Arial" panose="020B0604020202020204" pitchFamily="34" charset="0"/>
              </a:rPr>
              <a:t>trình</a:t>
            </a:r>
            <a:r>
              <a:rPr lang="en-US" sz="4000" dirty="0">
                <a:latin typeface="Arial" panose="020B0604020202020204" pitchFamily="34" charset="0"/>
              </a:rPr>
              <a:t> </a:t>
            </a:r>
            <a:r>
              <a:rPr lang="en-US" sz="4000" dirty="0" err="1">
                <a:latin typeface="Arial" panose="020B0604020202020204" pitchFamily="34" charset="0"/>
              </a:rPr>
              <a:t>mô</a:t>
            </a:r>
            <a:r>
              <a:rPr lang="en-US" sz="4000" dirty="0">
                <a:latin typeface="Arial" panose="020B0604020202020204" pitchFamily="34" charset="0"/>
              </a:rPr>
              <a:t> </a:t>
            </a:r>
            <a:r>
              <a:rPr lang="en-US" sz="4000" dirty="0" err="1">
                <a:latin typeface="Arial" panose="020B0604020202020204" pitchFamily="34" charset="0"/>
              </a:rPr>
              <a:t>phỏng</a:t>
            </a:r>
            <a:r>
              <a:rPr lang="en-US" sz="4000" dirty="0">
                <a:latin typeface="Arial" panose="020B0604020202020204" pitchFamily="34" charset="0"/>
              </a:rPr>
              <a:t> robot </a:t>
            </a:r>
            <a:r>
              <a:rPr lang="en-US" sz="4000" dirty="0" err="1">
                <a:latin typeface="Arial" panose="020B0604020202020204" pitchFamily="34" charset="0"/>
              </a:rPr>
              <a:t>và</a:t>
            </a:r>
            <a:r>
              <a:rPr lang="en-US" sz="4000" dirty="0">
                <a:latin typeface="Arial" panose="020B0604020202020204" pitchFamily="34" charset="0"/>
              </a:rPr>
              <a:t> </a:t>
            </a:r>
            <a:r>
              <a:rPr lang="en-US" sz="4000" dirty="0" err="1">
                <a:latin typeface="Arial" panose="020B0604020202020204" pitchFamily="34" charset="0"/>
              </a:rPr>
              <a:t>các</a:t>
            </a:r>
            <a:r>
              <a:rPr lang="en-US" sz="4000" dirty="0">
                <a:latin typeface="Arial" panose="020B0604020202020204" pitchFamily="34" charset="0"/>
              </a:rPr>
              <a:t> </a:t>
            </a:r>
            <a:r>
              <a:rPr lang="en-US" sz="4000" dirty="0" err="1">
                <a:latin typeface="Arial" panose="020B0604020202020204" pitchFamily="34" charset="0"/>
              </a:rPr>
              <a:t>hệ</a:t>
            </a:r>
            <a:r>
              <a:rPr lang="en-US" sz="4000" dirty="0">
                <a:latin typeface="Arial" panose="020B0604020202020204" pitchFamily="34" charset="0"/>
              </a:rPr>
              <a:t> </a:t>
            </a:r>
            <a:r>
              <a:rPr lang="en-US" sz="4000" dirty="0" err="1">
                <a:latin typeface="Arial" panose="020B0604020202020204" pitchFamily="34" charset="0"/>
              </a:rPr>
              <a:t>cơ</a:t>
            </a:r>
            <a:r>
              <a:rPr lang="en-US" sz="4000" dirty="0">
                <a:latin typeface="Arial" panose="020B0604020202020204" pitchFamily="34" charset="0"/>
              </a:rPr>
              <a:t> </a:t>
            </a:r>
            <a:r>
              <a:rPr lang="en-US" sz="4000" dirty="0" err="1">
                <a:latin typeface="Arial" panose="020B0604020202020204" pitchFamily="34" charset="0"/>
              </a:rPr>
              <a:t>điện</a:t>
            </a:r>
            <a:r>
              <a:rPr lang="en-US" sz="4000" dirty="0">
                <a:latin typeface="Arial" panose="020B0604020202020204" pitchFamily="34" charset="0"/>
              </a:rPr>
              <a:t> </a:t>
            </a:r>
            <a:r>
              <a:rPr lang="en-US" sz="4000" dirty="0" err="1">
                <a:latin typeface="Arial" panose="020B0604020202020204" pitchFamily="34" charset="0"/>
              </a:rPr>
              <a:t>tử</a:t>
            </a:r>
            <a:endParaRPr lang="en-US" sz="4000" dirty="0">
              <a:latin typeface="Arial" panose="020B0604020202020204" pitchFamily="34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AB3AD35-F6C2-4217-A79B-5D7C3AFDE6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837354"/>
            <a:ext cx="5105634" cy="1573071"/>
          </a:xfrm>
        </p:spPr>
        <p:txBody>
          <a:bodyPr/>
          <a:lstStyle/>
          <a:p>
            <a:r>
              <a:rPr lang="en-US" b="1" dirty="0"/>
              <a:t>Sinh </a:t>
            </a:r>
            <a:r>
              <a:rPr lang="en-US" b="1" dirty="0" err="1"/>
              <a:t>viên</a:t>
            </a:r>
            <a:r>
              <a:rPr lang="en-US" b="1" dirty="0"/>
              <a:t> </a:t>
            </a:r>
            <a:r>
              <a:rPr lang="en-US" b="1" dirty="0" err="1"/>
              <a:t>thực</a:t>
            </a:r>
            <a:r>
              <a:rPr lang="en-US" b="1" dirty="0"/>
              <a:t> </a:t>
            </a:r>
            <a:r>
              <a:rPr lang="en-US" b="1" dirty="0" err="1"/>
              <a:t>hiện</a:t>
            </a:r>
            <a:r>
              <a:rPr lang="en-US" b="1" dirty="0"/>
              <a:t>: </a:t>
            </a:r>
            <a:r>
              <a:rPr lang="en-US" dirty="0"/>
              <a:t>Phạm Tuấn Anh</a:t>
            </a:r>
          </a:p>
          <a:p>
            <a:r>
              <a:rPr lang="en-US" dirty="0"/>
              <a:t>		           Lưu Phong Pháp</a:t>
            </a:r>
          </a:p>
          <a:p>
            <a:r>
              <a:rPr lang="en-US" dirty="0"/>
              <a:t>		       </a:t>
            </a:r>
            <a:r>
              <a:rPr lang="en-US" dirty="0" err="1"/>
              <a:t>Hạ</a:t>
            </a:r>
            <a:r>
              <a:rPr lang="en-US" dirty="0"/>
              <a:t> Huy Thiện</a:t>
            </a:r>
          </a:p>
          <a:p>
            <a:endParaRPr lang="en-US" dirty="0"/>
          </a:p>
        </p:txBody>
      </p:sp>
      <p:graphicFrame>
        <p:nvGraphicFramePr>
          <p:cNvPr id="3" name="Bảng 2">
            <a:extLst>
              <a:ext uri="{FF2B5EF4-FFF2-40B4-BE49-F238E27FC236}">
                <a16:creationId xmlns:a16="http://schemas.microsoft.com/office/drawing/2014/main" id="{EEBE1CAA-CFAA-6B64-5078-5CA1B4573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5192603"/>
              </p:ext>
            </p:extLst>
          </p:nvPr>
        </p:nvGraphicFramePr>
        <p:xfrm>
          <a:off x="6622181" y="4837354"/>
          <a:ext cx="4764505" cy="14479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64505">
                  <a:extLst>
                    <a:ext uri="{9D8B030D-6E8A-4147-A177-3AD203B41FA5}">
                      <a16:colId xmlns:a16="http://schemas.microsoft.com/office/drawing/2014/main" val="41405817"/>
                    </a:ext>
                  </a:extLst>
                </a:gridCol>
              </a:tblGrid>
              <a:tr h="1447943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UTM Avo" panose="02040603050506020204"/>
                        </a:rPr>
                        <a:t>Giảng </a:t>
                      </a:r>
                      <a:r>
                        <a:rPr lang="en-US" sz="2400" dirty="0" err="1">
                          <a:latin typeface="UTM Avo" panose="02040603050506020204"/>
                        </a:rPr>
                        <a:t>viên</a:t>
                      </a:r>
                      <a:r>
                        <a:rPr lang="en-US" sz="2400" dirty="0">
                          <a:latin typeface="UTM Avo" panose="02040603050506020204"/>
                        </a:rPr>
                        <a:t> </a:t>
                      </a:r>
                      <a:r>
                        <a:rPr lang="en-US" sz="2400" dirty="0" err="1">
                          <a:latin typeface="UTM Avo" panose="02040603050506020204"/>
                        </a:rPr>
                        <a:t>hướng</a:t>
                      </a:r>
                      <a:r>
                        <a:rPr lang="en-US" sz="2400" dirty="0">
                          <a:latin typeface="UTM Avo" panose="02040603050506020204"/>
                        </a:rPr>
                        <a:t> </a:t>
                      </a:r>
                      <a:r>
                        <a:rPr lang="en-US" sz="2400" dirty="0" err="1">
                          <a:latin typeface="UTM Avo" panose="02040603050506020204"/>
                        </a:rPr>
                        <a:t>dẫn</a:t>
                      </a:r>
                      <a:r>
                        <a:rPr lang="en-US" sz="2400" dirty="0">
                          <a:latin typeface="UTM Avo" panose="02040603050506020204"/>
                        </a:rPr>
                        <a:t>: </a:t>
                      </a:r>
                      <a:r>
                        <a:rPr lang="en-US" sz="2400" b="0" dirty="0">
                          <a:latin typeface="UTM Avo" panose="02040603050506020204"/>
                        </a:rPr>
                        <a:t>Vũ </a:t>
                      </a:r>
                      <a:r>
                        <a:rPr lang="en-US" sz="2400" b="0">
                          <a:latin typeface="UTM Avo" panose="02040603050506020204"/>
                        </a:rPr>
                        <a:t>Huy Lê</a:t>
                      </a:r>
                    </a:p>
                    <a:p>
                      <a:endParaRPr lang="en-US" sz="2400" b="0">
                        <a:latin typeface="UTM Avo" panose="02040603050506020204"/>
                      </a:endParaRPr>
                    </a:p>
                    <a:p>
                      <a:r>
                        <a:rPr lang="en-US" sz="2400" b="0">
                          <a:latin typeface="UTM Avo" panose="02040603050506020204"/>
                        </a:rPr>
                        <a:t>Đề :12</a:t>
                      </a:r>
                      <a:endParaRPr lang="en-US" sz="2400" b="0" dirty="0">
                        <a:latin typeface="UTM Avo" panose="02040603050506020204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2377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32317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20156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D8CBB-DEDE-255C-15DA-BFB1B60F7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2DD4103-DA84-BF37-D8E7-A0E26ADBF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/>
              <a:t>Bảng phân chia công việc:</a:t>
            </a:r>
            <a:endParaRPr lang="en-US" sz="3600" dirty="0"/>
          </a:p>
        </p:txBody>
      </p:sp>
      <p:graphicFrame>
        <p:nvGraphicFramePr>
          <p:cNvPr id="2" name="Bảng 1">
            <a:extLst>
              <a:ext uri="{FF2B5EF4-FFF2-40B4-BE49-F238E27FC236}">
                <a16:creationId xmlns:a16="http://schemas.microsoft.com/office/drawing/2014/main" id="{0022EE9D-D495-7B11-2092-468E460D4E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0178939"/>
              </p:ext>
            </p:extLst>
          </p:nvPr>
        </p:nvGraphicFramePr>
        <p:xfrm>
          <a:off x="0" y="1226916"/>
          <a:ext cx="12192004" cy="5403923"/>
        </p:xfrm>
        <a:graphic>
          <a:graphicData uri="http://schemas.openxmlformats.org/drawingml/2006/table">
            <a:tbl>
              <a:tblPr firstRow="1" bandRow="1" bandCol="1">
                <a:tableStyleId>{5C22544A-7EE6-4342-B048-85BDC9FD1C3A}</a:tableStyleId>
              </a:tblPr>
              <a:tblGrid>
                <a:gridCol w="3048001">
                  <a:extLst>
                    <a:ext uri="{9D8B030D-6E8A-4147-A177-3AD203B41FA5}">
                      <a16:colId xmlns:a16="http://schemas.microsoft.com/office/drawing/2014/main" val="197642050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4215921002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2562855045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1136169066"/>
                    </a:ext>
                  </a:extLst>
                </a:gridCol>
              </a:tblGrid>
              <a:tr h="431573"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Thành viên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Vai trò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Nhiệm vụ chính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Kết quả mong đợi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704651864"/>
                  </a:ext>
                </a:extLst>
              </a:tr>
              <a:tr h="1519774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6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Phạm Tuấn Anh (Trưởng nhóm)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6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Quản lý &amp; Tích hợp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6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 Quản lý tiến độ, phân chia công việc. </a:t>
                      </a:r>
                    </a:p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Xây dựng và mô tả </a:t>
                      </a:r>
                      <a:r>
                        <a:rPr lang="en-US" sz="16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mô hình hình học, bảng DH. </a:t>
                      </a:r>
                      <a:br>
                        <a:rPr lang="en-US" sz="16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</a:br>
                      <a:r>
                        <a:rPr lang="en-US" sz="16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 Tích hợp toàn bộ code và chạy thử trên Visual Studio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6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 Code chạy hoàn chỉnh, không lỗi.</a:t>
                      </a:r>
                    </a:p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6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 Báo cáo và slide tổng hợp rõ ràng.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26347235"/>
                  </a:ext>
                </a:extLst>
              </a:tr>
              <a:tr h="1726288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6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Lưu Phong Pháp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6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Lập trình Động học thuận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6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 </a:t>
                      </a:r>
                      <a:r>
                        <a:rPr lang="vi-VN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Tìm hiểu </a:t>
                      </a:r>
                      <a:r>
                        <a:rPr lang="vi-VN" sz="16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lý thuyết động học </a:t>
                      </a:r>
                      <a:r>
                        <a:rPr lang="en-US" sz="1600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thuận</a:t>
                      </a:r>
                      <a:r>
                        <a:rPr lang="vi-VN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.</a:t>
                      </a:r>
                    </a:p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6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-Tính toán, vẽ biểu đồ quỹ đạo điểm cuối.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6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 Động học thuận chính xác.</a:t>
                      </a:r>
                    </a:p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800" kern="120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 </a:t>
                      </a:r>
                      <a:r>
                        <a:rPr lang="en-US" sz="1600" kern="120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Biểu đồ mô phỏng rõ ràng</a:t>
                      </a:r>
                      <a:r>
                        <a:rPr lang="en-US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sz="16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65210782"/>
                  </a:ext>
                </a:extLst>
              </a:tr>
              <a:tr h="1726288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6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Hạ Huy Thiện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6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Giải tích &amp; Động học ngược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6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 </a:t>
                      </a:r>
                      <a:r>
                        <a:rPr lang="vi-VN" sz="1600" kern="120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Tìm hiểu </a:t>
                      </a:r>
                      <a:r>
                        <a:rPr lang="vi-VN" sz="1600" b="1" kern="120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lý thuyết động học </a:t>
                      </a:r>
                      <a:r>
                        <a:rPr lang="en-US" sz="1600" b="1" kern="120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ngược</a:t>
                      </a:r>
                      <a:r>
                        <a:rPr lang="vi-VN" sz="1600" kern="120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6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.</a:t>
                      </a:r>
                    </a:p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6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 Kiểm tra nghiệm và viết phần đánh giá kết quả.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6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 Nghiệm hội tụ tốt, kết quả đúng lý thuyết.</a:t>
                      </a:r>
                    </a:p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6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 Phần giải tích, đánh giá đầy đủ.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944635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5507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061AF-8AD3-7D97-6B60-C747EA7FE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EE901DA-2BCB-88B4-F1BF-FEE54F8C1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5420" y="150876"/>
            <a:ext cx="10515600" cy="1325880"/>
          </a:xfrm>
        </p:spPr>
        <p:txBody>
          <a:bodyPr anchor="ctr">
            <a:normAutofit/>
          </a:bodyPr>
          <a:lstStyle/>
          <a:p>
            <a:r>
              <a:rPr lang="en-US" b="1" kern="1200" baseline="0"/>
              <a:t>Động học thuận</a:t>
            </a:r>
          </a:p>
        </p:txBody>
      </p:sp>
      <p:graphicFrame>
        <p:nvGraphicFramePr>
          <p:cNvPr id="10" name="Hộp Văn bản 5">
            <a:extLst>
              <a:ext uri="{FF2B5EF4-FFF2-40B4-BE49-F238E27FC236}">
                <a16:creationId xmlns:a16="http://schemas.microsoft.com/office/drawing/2014/main" id="{B0EA0E84-BB83-9FBF-1392-FF4C182C13F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96349687"/>
              </p:ext>
            </p:extLst>
          </p:nvPr>
        </p:nvGraphicFramePr>
        <p:xfrm>
          <a:off x="838200" y="209419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8231C6EA-89C5-1F5E-9CB0-C41C808A5D06}"/>
              </a:ext>
            </a:extLst>
          </p:cNvPr>
          <p:cNvSpPr txBox="1"/>
          <p:nvPr/>
        </p:nvSpPr>
        <p:spPr>
          <a:xfrm>
            <a:off x="838200" y="1153590"/>
            <a:ext cx="11192718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17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Động học thuận là </a:t>
            </a:r>
            <a:r>
              <a:rPr lang="en-US" sz="17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quá trình xác định vị trí và hướng của đầu công tác (End-Effector)</a:t>
            </a:r>
            <a:r>
              <a:rPr lang="en-US" sz="17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của robot trong không gian, </a:t>
            </a:r>
            <a:r>
              <a:rPr lang="en-US" sz="17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khi biết các biến khớp</a:t>
            </a:r>
            <a:r>
              <a:rPr lang="en-US" sz="17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(góc quay, độ trượt).</a:t>
            </a:r>
          </a:p>
        </p:txBody>
      </p:sp>
    </p:spTree>
    <p:extLst>
      <p:ext uri="{BB962C8B-B14F-4D97-AF65-F5344CB8AC3E}">
        <p14:creationId xmlns:p14="http://schemas.microsoft.com/office/powerpoint/2010/main" val="11385029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E788F-50EF-500C-23D6-FABE028D2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6AC066-BA57-8EBF-FE88-F8B3CC3F2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/>
              <a:t>Gắn trục toạ độ và bảng DH</a:t>
            </a:r>
            <a:endParaRPr lang="en-US" dirty="0"/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6EB391C8-A0FF-E543-DF62-34CD8EBE14EF}"/>
              </a:ext>
            </a:extLst>
          </p:cNvPr>
          <p:cNvSpPr/>
          <p:nvPr/>
        </p:nvSpPr>
        <p:spPr>
          <a:xfrm>
            <a:off x="2909454" y="1740135"/>
            <a:ext cx="258618" cy="24577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9429E137-B00A-32F7-E4C5-9F9F31724FFC}"/>
              </a:ext>
            </a:extLst>
          </p:cNvPr>
          <p:cNvSpPr/>
          <p:nvPr/>
        </p:nvSpPr>
        <p:spPr>
          <a:xfrm>
            <a:off x="2521527" y="4036291"/>
            <a:ext cx="1034473" cy="3232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E0D8F511-9440-C5F3-BD3D-B59AB6F4279C}"/>
              </a:ext>
            </a:extLst>
          </p:cNvPr>
          <p:cNvSpPr/>
          <p:nvPr/>
        </p:nvSpPr>
        <p:spPr>
          <a:xfrm>
            <a:off x="2676346" y="2008908"/>
            <a:ext cx="724834" cy="5818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C2AD23FF-EB9F-FC37-4854-CCBE440F136B}"/>
              </a:ext>
            </a:extLst>
          </p:cNvPr>
          <p:cNvSpPr/>
          <p:nvPr/>
        </p:nvSpPr>
        <p:spPr>
          <a:xfrm>
            <a:off x="3401180" y="2115127"/>
            <a:ext cx="1937438" cy="3232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DF598DCD-51BC-FF3F-0A71-7F4DD190B674}"/>
              </a:ext>
            </a:extLst>
          </p:cNvPr>
          <p:cNvSpPr/>
          <p:nvPr/>
        </p:nvSpPr>
        <p:spPr>
          <a:xfrm>
            <a:off x="5338618" y="2198255"/>
            <a:ext cx="544946" cy="1570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F403B804-EFE0-0C68-FCA0-F6D9F8CB200E}"/>
              </a:ext>
            </a:extLst>
          </p:cNvPr>
          <p:cNvSpPr/>
          <p:nvPr/>
        </p:nvSpPr>
        <p:spPr>
          <a:xfrm>
            <a:off x="5883564" y="2045854"/>
            <a:ext cx="101600" cy="4756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31917FE8-52BE-70BE-8CA0-CF4890D3A9C0}"/>
              </a:ext>
            </a:extLst>
          </p:cNvPr>
          <p:cNvSpPr/>
          <p:nvPr/>
        </p:nvSpPr>
        <p:spPr>
          <a:xfrm>
            <a:off x="5985164" y="2045854"/>
            <a:ext cx="101600" cy="692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13">
            <a:extLst>
              <a:ext uri="{FF2B5EF4-FFF2-40B4-BE49-F238E27FC236}">
                <a16:creationId xmlns:a16="http://schemas.microsoft.com/office/drawing/2014/main" id="{690AC31A-0FF7-1FFE-B702-61741DEAC15B}"/>
              </a:ext>
            </a:extLst>
          </p:cNvPr>
          <p:cNvSpPr/>
          <p:nvPr/>
        </p:nvSpPr>
        <p:spPr>
          <a:xfrm>
            <a:off x="5985164" y="2438400"/>
            <a:ext cx="101600" cy="831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Curved Up 14">
            <a:extLst>
              <a:ext uri="{FF2B5EF4-FFF2-40B4-BE49-F238E27FC236}">
                <a16:creationId xmlns:a16="http://schemas.microsoft.com/office/drawing/2014/main" id="{2B3D98F9-E53C-7154-8B10-16F9568B1F1B}"/>
              </a:ext>
            </a:extLst>
          </p:cNvPr>
          <p:cNvSpPr/>
          <p:nvPr/>
        </p:nvSpPr>
        <p:spPr>
          <a:xfrm>
            <a:off x="2676346" y="3729183"/>
            <a:ext cx="724834" cy="240146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sp>
        <p:nvSpPr>
          <p:cNvPr id="12" name="Arrow: Up-Down 16">
            <a:extLst>
              <a:ext uri="{FF2B5EF4-FFF2-40B4-BE49-F238E27FC236}">
                <a16:creationId xmlns:a16="http://schemas.microsoft.com/office/drawing/2014/main" id="{24BBBDCB-2374-B22C-9BFE-BAED6FAAA52D}"/>
              </a:ext>
            </a:extLst>
          </p:cNvPr>
          <p:cNvSpPr/>
          <p:nvPr/>
        </p:nvSpPr>
        <p:spPr>
          <a:xfrm>
            <a:off x="2077263" y="2237416"/>
            <a:ext cx="239073" cy="1669690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Left-Right 17">
            <a:extLst>
              <a:ext uri="{FF2B5EF4-FFF2-40B4-BE49-F238E27FC236}">
                <a16:creationId xmlns:a16="http://schemas.microsoft.com/office/drawing/2014/main" id="{BCDDE1B7-7BA3-42BE-06D8-61DC2D22C010}"/>
              </a:ext>
            </a:extLst>
          </p:cNvPr>
          <p:cNvSpPr/>
          <p:nvPr/>
        </p:nvSpPr>
        <p:spPr>
          <a:xfrm>
            <a:off x="5338618" y="1851890"/>
            <a:ext cx="531312" cy="157018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Đường kết nối Mũi tên Thẳng 13">
            <a:extLst>
              <a:ext uri="{FF2B5EF4-FFF2-40B4-BE49-F238E27FC236}">
                <a16:creationId xmlns:a16="http://schemas.microsoft.com/office/drawing/2014/main" id="{CEE9669C-FFD7-F89B-4B3E-6849C551DC48}"/>
              </a:ext>
            </a:extLst>
          </p:cNvPr>
          <p:cNvCxnSpPr>
            <a:cxnSpLocks/>
          </p:cNvCxnSpPr>
          <p:nvPr/>
        </p:nvCxnSpPr>
        <p:spPr>
          <a:xfrm flipV="1">
            <a:off x="3016167" y="3217762"/>
            <a:ext cx="0" cy="114180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Đường kết nối Mũi tên Thẳng 14">
            <a:extLst>
              <a:ext uri="{FF2B5EF4-FFF2-40B4-BE49-F238E27FC236}">
                <a16:creationId xmlns:a16="http://schemas.microsoft.com/office/drawing/2014/main" id="{43F5E737-214D-77BF-5AB4-041A41EB7632}"/>
              </a:ext>
            </a:extLst>
          </p:cNvPr>
          <p:cNvCxnSpPr>
            <a:cxnSpLocks/>
            <a:endCxn id="7" idx="3"/>
          </p:cNvCxnSpPr>
          <p:nvPr/>
        </p:nvCxnSpPr>
        <p:spPr>
          <a:xfrm flipV="1">
            <a:off x="5194994" y="2276764"/>
            <a:ext cx="688570" cy="26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Đường kết nối Mũi tên Thẳng 15">
            <a:extLst>
              <a:ext uri="{FF2B5EF4-FFF2-40B4-BE49-F238E27FC236}">
                <a16:creationId xmlns:a16="http://schemas.microsoft.com/office/drawing/2014/main" id="{C0126A84-8687-8984-32DC-9F5C89E6D859}"/>
              </a:ext>
            </a:extLst>
          </p:cNvPr>
          <p:cNvCxnSpPr>
            <a:cxnSpLocks/>
          </p:cNvCxnSpPr>
          <p:nvPr/>
        </p:nvCxnSpPr>
        <p:spPr>
          <a:xfrm flipV="1">
            <a:off x="5194994" y="1559473"/>
            <a:ext cx="16054" cy="71990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Đường kết nối Mũi tên Thẳng 16">
            <a:extLst>
              <a:ext uri="{FF2B5EF4-FFF2-40B4-BE49-F238E27FC236}">
                <a16:creationId xmlns:a16="http://schemas.microsoft.com/office/drawing/2014/main" id="{6B31A103-9972-0F4B-9292-A195679260F8}"/>
              </a:ext>
            </a:extLst>
          </p:cNvPr>
          <p:cNvCxnSpPr>
            <a:cxnSpLocks/>
          </p:cNvCxnSpPr>
          <p:nvPr/>
        </p:nvCxnSpPr>
        <p:spPr>
          <a:xfrm>
            <a:off x="6110816" y="2307978"/>
            <a:ext cx="639156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Đường kết nối Mũi tên Thẳng 17">
            <a:extLst>
              <a:ext uri="{FF2B5EF4-FFF2-40B4-BE49-F238E27FC236}">
                <a16:creationId xmlns:a16="http://schemas.microsoft.com/office/drawing/2014/main" id="{AD353F70-889F-5D10-E049-1D4CF6EFB9E2}"/>
              </a:ext>
            </a:extLst>
          </p:cNvPr>
          <p:cNvCxnSpPr>
            <a:cxnSpLocks/>
          </p:cNvCxnSpPr>
          <p:nvPr/>
        </p:nvCxnSpPr>
        <p:spPr>
          <a:xfrm flipV="1">
            <a:off x="6134251" y="1597867"/>
            <a:ext cx="0" cy="72343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Hộp Văn bản 18">
            <a:extLst>
              <a:ext uri="{FF2B5EF4-FFF2-40B4-BE49-F238E27FC236}">
                <a16:creationId xmlns:a16="http://schemas.microsoft.com/office/drawing/2014/main" id="{5BA7BBD4-B714-2DC6-F390-6E02E9521633}"/>
              </a:ext>
            </a:extLst>
          </p:cNvPr>
          <p:cNvSpPr txBox="1"/>
          <p:nvPr/>
        </p:nvSpPr>
        <p:spPr>
          <a:xfrm>
            <a:off x="2124726" y="4685733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x0</a:t>
            </a:r>
          </a:p>
        </p:txBody>
      </p:sp>
      <p:sp>
        <p:nvSpPr>
          <p:cNvPr id="20" name="Hộp Văn bản 19">
            <a:extLst>
              <a:ext uri="{FF2B5EF4-FFF2-40B4-BE49-F238E27FC236}">
                <a16:creationId xmlns:a16="http://schemas.microsoft.com/office/drawing/2014/main" id="{62F29175-0386-6440-4BB1-8E0DBD00343C}"/>
              </a:ext>
            </a:extLst>
          </p:cNvPr>
          <p:cNvSpPr txBox="1"/>
          <p:nvPr/>
        </p:nvSpPr>
        <p:spPr>
          <a:xfrm>
            <a:off x="3284626" y="3739276"/>
            <a:ext cx="4090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Z0</a:t>
            </a:r>
          </a:p>
          <a:p>
            <a:endParaRPr lang="en-US"/>
          </a:p>
        </p:txBody>
      </p:sp>
      <p:sp>
        <p:nvSpPr>
          <p:cNvPr id="21" name="Hộp Văn bản 20">
            <a:extLst>
              <a:ext uri="{FF2B5EF4-FFF2-40B4-BE49-F238E27FC236}">
                <a16:creationId xmlns:a16="http://schemas.microsoft.com/office/drawing/2014/main" id="{D1DEF838-FDBF-9785-896F-75EAB8863795}"/>
              </a:ext>
            </a:extLst>
          </p:cNvPr>
          <p:cNvSpPr txBox="1"/>
          <p:nvPr/>
        </p:nvSpPr>
        <p:spPr>
          <a:xfrm>
            <a:off x="2355121" y="3092980"/>
            <a:ext cx="3930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z1</a:t>
            </a:r>
          </a:p>
        </p:txBody>
      </p:sp>
      <p:sp>
        <p:nvSpPr>
          <p:cNvPr id="22" name="Hộp Văn bản 21">
            <a:extLst>
              <a:ext uri="{FF2B5EF4-FFF2-40B4-BE49-F238E27FC236}">
                <a16:creationId xmlns:a16="http://schemas.microsoft.com/office/drawing/2014/main" id="{7EB22DFD-A7BE-752B-1280-EFC3555235AB}"/>
              </a:ext>
            </a:extLst>
          </p:cNvPr>
          <p:cNvSpPr txBox="1"/>
          <p:nvPr/>
        </p:nvSpPr>
        <p:spPr>
          <a:xfrm>
            <a:off x="3875178" y="4174898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x1</a:t>
            </a:r>
          </a:p>
        </p:txBody>
      </p:sp>
      <p:sp>
        <p:nvSpPr>
          <p:cNvPr id="23" name="Hộp Văn bản 22">
            <a:extLst>
              <a:ext uri="{FF2B5EF4-FFF2-40B4-BE49-F238E27FC236}">
                <a16:creationId xmlns:a16="http://schemas.microsoft.com/office/drawing/2014/main" id="{DD1ADD74-00A6-87CF-1D1B-2F0C1EFE92FA}"/>
              </a:ext>
            </a:extLst>
          </p:cNvPr>
          <p:cNvSpPr txBox="1"/>
          <p:nvPr/>
        </p:nvSpPr>
        <p:spPr>
          <a:xfrm>
            <a:off x="4809965" y="1273153"/>
            <a:ext cx="3930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z2</a:t>
            </a:r>
          </a:p>
        </p:txBody>
      </p:sp>
      <p:sp>
        <p:nvSpPr>
          <p:cNvPr id="24" name="Hộp Văn bản 23">
            <a:extLst>
              <a:ext uri="{FF2B5EF4-FFF2-40B4-BE49-F238E27FC236}">
                <a16:creationId xmlns:a16="http://schemas.microsoft.com/office/drawing/2014/main" id="{DC8CC0FB-1081-A8C1-3931-862BB9411CC7}"/>
              </a:ext>
            </a:extLst>
          </p:cNvPr>
          <p:cNvSpPr txBox="1"/>
          <p:nvPr/>
        </p:nvSpPr>
        <p:spPr>
          <a:xfrm>
            <a:off x="5074672" y="2388383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x2</a:t>
            </a:r>
          </a:p>
        </p:txBody>
      </p:sp>
      <p:sp>
        <p:nvSpPr>
          <p:cNvPr id="25" name="Hộp Văn bản 24">
            <a:extLst>
              <a:ext uri="{FF2B5EF4-FFF2-40B4-BE49-F238E27FC236}">
                <a16:creationId xmlns:a16="http://schemas.microsoft.com/office/drawing/2014/main" id="{3E412C50-A782-3154-95A0-BACC9029FBF9}"/>
              </a:ext>
            </a:extLst>
          </p:cNvPr>
          <p:cNvSpPr txBox="1"/>
          <p:nvPr/>
        </p:nvSpPr>
        <p:spPr>
          <a:xfrm>
            <a:off x="6227605" y="1366154"/>
            <a:ext cx="3930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z3</a:t>
            </a:r>
          </a:p>
        </p:txBody>
      </p:sp>
      <p:sp>
        <p:nvSpPr>
          <p:cNvPr id="26" name="Hộp Văn bản 25">
            <a:extLst>
              <a:ext uri="{FF2B5EF4-FFF2-40B4-BE49-F238E27FC236}">
                <a16:creationId xmlns:a16="http://schemas.microsoft.com/office/drawing/2014/main" id="{40D66DDC-F67B-6143-939D-8372C591B191}"/>
              </a:ext>
            </a:extLst>
          </p:cNvPr>
          <p:cNvSpPr txBox="1"/>
          <p:nvPr/>
        </p:nvSpPr>
        <p:spPr>
          <a:xfrm>
            <a:off x="6410719" y="2399800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x3</a:t>
            </a:r>
          </a:p>
        </p:txBody>
      </p:sp>
      <p:cxnSp>
        <p:nvCxnSpPr>
          <p:cNvPr id="27" name="Đường kết nối Mũi tên Thẳng 26">
            <a:extLst>
              <a:ext uri="{FF2B5EF4-FFF2-40B4-BE49-F238E27FC236}">
                <a16:creationId xmlns:a16="http://schemas.microsoft.com/office/drawing/2014/main" id="{E91EE24C-AB5E-5C82-BB3F-70BEF9E236CA}"/>
              </a:ext>
            </a:extLst>
          </p:cNvPr>
          <p:cNvCxnSpPr>
            <a:cxnSpLocks/>
          </p:cNvCxnSpPr>
          <p:nvPr/>
        </p:nvCxnSpPr>
        <p:spPr>
          <a:xfrm>
            <a:off x="2965448" y="4359564"/>
            <a:ext cx="92905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0" name="Bảng 29">
            <a:extLst>
              <a:ext uri="{FF2B5EF4-FFF2-40B4-BE49-F238E27FC236}">
                <a16:creationId xmlns:a16="http://schemas.microsoft.com/office/drawing/2014/main" id="{FA5B4B2F-2AF7-A4E4-2357-B725CC309D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4191057"/>
              </p:ext>
            </p:extLst>
          </p:nvPr>
        </p:nvGraphicFramePr>
        <p:xfrm>
          <a:off x="3555527" y="4759777"/>
          <a:ext cx="8128000" cy="147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73975026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93650443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5764043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87283762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710892131"/>
                    </a:ext>
                  </a:extLst>
                </a:gridCol>
              </a:tblGrid>
              <a:tr h="33824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anpha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theta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20353"/>
                  </a:ext>
                </a:extLst>
              </a:tr>
              <a:tr h="339829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b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  <a:endParaRPr lang="en-US" b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800" b="1"/>
                        <a:t>θ₁</a:t>
                      </a:r>
                      <a:endParaRPr lang="en-US" b="1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2094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b="0"/>
                        <a:t>L2</a:t>
                      </a:r>
                      <a:endParaRPr 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/>
                        <a:t>0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b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d2</a:t>
                      </a:r>
                      <a:endParaRPr lang="en-US" b="1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04570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b="1"/>
                        <a:t>d3</a:t>
                      </a:r>
                      <a:endParaRPr 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b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  <a:endParaRPr lang="en-US" b="1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7020697"/>
                  </a:ext>
                </a:extLst>
              </a:tr>
            </a:tbl>
          </a:graphicData>
        </a:graphic>
      </p:graphicFrame>
      <p:sp>
        <p:nvSpPr>
          <p:cNvPr id="31" name="Hộp Văn bản 30">
            <a:extLst>
              <a:ext uri="{FF2B5EF4-FFF2-40B4-BE49-F238E27FC236}">
                <a16:creationId xmlns:a16="http://schemas.microsoft.com/office/drawing/2014/main" id="{C20AF6CE-614D-A5B4-EBD3-BC74C4D7E93D}"/>
              </a:ext>
            </a:extLst>
          </p:cNvPr>
          <p:cNvSpPr txBox="1"/>
          <p:nvPr/>
        </p:nvSpPr>
        <p:spPr>
          <a:xfrm>
            <a:off x="1418112" y="2419497"/>
            <a:ext cx="4587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b="1">
                <a:latin typeface="Cambria" panose="02040503050406030204" pitchFamily="18" charset="0"/>
                <a:ea typeface="Cambria" panose="02040503050406030204" pitchFamily="18" charset="0"/>
              </a:rPr>
              <a:t>d2</a:t>
            </a:r>
            <a:endParaRPr lang="en-US"/>
          </a:p>
        </p:txBody>
      </p:sp>
      <p:sp>
        <p:nvSpPr>
          <p:cNvPr id="32" name="Hộp Văn bản 31">
            <a:extLst>
              <a:ext uri="{FF2B5EF4-FFF2-40B4-BE49-F238E27FC236}">
                <a16:creationId xmlns:a16="http://schemas.microsoft.com/office/drawing/2014/main" id="{E6F029EC-8366-A41E-1AE7-F80FCC03C499}"/>
              </a:ext>
            </a:extLst>
          </p:cNvPr>
          <p:cNvSpPr txBox="1"/>
          <p:nvPr/>
        </p:nvSpPr>
        <p:spPr>
          <a:xfrm>
            <a:off x="5345631" y="1496474"/>
            <a:ext cx="789237" cy="380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b="1">
                <a:latin typeface="Cambria" panose="02040503050406030204" pitchFamily="18" charset="0"/>
                <a:ea typeface="Cambria" panose="02040503050406030204" pitchFamily="18" charset="0"/>
              </a:rPr>
              <a:t>d3</a:t>
            </a:r>
            <a:endParaRPr lang="en-US"/>
          </a:p>
        </p:txBody>
      </p:sp>
      <p:sp>
        <p:nvSpPr>
          <p:cNvPr id="33" name="TextBox 7">
            <a:extLst>
              <a:ext uri="{FF2B5EF4-FFF2-40B4-BE49-F238E27FC236}">
                <a16:creationId xmlns:a16="http://schemas.microsoft.com/office/drawing/2014/main" id="{33444539-C8F1-4491-0BA0-B2402FEEFA62}"/>
              </a:ext>
            </a:extLst>
          </p:cNvPr>
          <p:cNvSpPr txBox="1"/>
          <p:nvPr/>
        </p:nvSpPr>
        <p:spPr>
          <a:xfrm>
            <a:off x="7063288" y="1681140"/>
            <a:ext cx="5377986" cy="1923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700"/>
              <a:t>Robot trụ RPP gồm:</a:t>
            </a:r>
          </a:p>
          <a:p>
            <a:r>
              <a:rPr lang="vi-VN" sz="1700" b="1"/>
              <a:t>Khớp 1 (Revolute)</a:t>
            </a:r>
            <a:r>
              <a:rPr lang="vi-VN" sz="1700"/>
              <a:t>: quay quanh trục z → biến số là </a:t>
            </a:r>
            <a:r>
              <a:rPr lang="el-GR" sz="1700"/>
              <a:t>θ₁.</a:t>
            </a:r>
          </a:p>
          <a:p>
            <a:r>
              <a:rPr lang="vi-VN" sz="1700" b="1"/>
              <a:t>Khớp 2 (Prismatic)</a:t>
            </a:r>
            <a:r>
              <a:rPr lang="vi-VN" sz="1700"/>
              <a:t>: trượt dọc trục z₁ → biến số là d₂.</a:t>
            </a:r>
          </a:p>
          <a:p>
            <a:r>
              <a:rPr lang="vi-VN" sz="1700" b="1"/>
              <a:t>Khớp 3 (Prismatic)</a:t>
            </a:r>
            <a:r>
              <a:rPr lang="vi-VN" sz="1700"/>
              <a:t>: trượt theo trục vuông góc → biến số là d₃.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6" name="Viết tay 55">
                <a:extLst>
                  <a:ext uri="{FF2B5EF4-FFF2-40B4-BE49-F238E27FC236}">
                    <a16:creationId xmlns:a16="http://schemas.microsoft.com/office/drawing/2014/main" id="{43716879-AB95-D25C-F12B-B6D3AADA29EE}"/>
                  </a:ext>
                </a:extLst>
              </p14:cNvPr>
              <p14:cNvContentPartPr/>
              <p14:nvPr/>
            </p14:nvContentPartPr>
            <p14:xfrm>
              <a:off x="3055808" y="4340443"/>
              <a:ext cx="16560" cy="360"/>
            </p14:xfrm>
          </p:contentPart>
        </mc:Choice>
        <mc:Fallback xmlns="">
          <p:pic>
            <p:nvPicPr>
              <p:cNvPr id="56" name="Viết tay 55">
                <a:extLst>
                  <a:ext uri="{FF2B5EF4-FFF2-40B4-BE49-F238E27FC236}">
                    <a16:creationId xmlns:a16="http://schemas.microsoft.com/office/drawing/2014/main" id="{CC361E7A-EFC2-A337-C244-705E63F421F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046808" y="4331803"/>
                <a:ext cx="342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7" name="Viết tay 56">
                <a:extLst>
                  <a:ext uri="{FF2B5EF4-FFF2-40B4-BE49-F238E27FC236}">
                    <a16:creationId xmlns:a16="http://schemas.microsoft.com/office/drawing/2014/main" id="{822A735D-4301-F05C-BD01-AE7EE20CC5DA}"/>
                  </a:ext>
                </a:extLst>
              </p14:cNvPr>
              <p14:cNvContentPartPr/>
              <p14:nvPr/>
            </p14:nvContentPartPr>
            <p14:xfrm>
              <a:off x="3067328" y="4386523"/>
              <a:ext cx="360" cy="360"/>
            </p14:xfrm>
          </p:contentPart>
        </mc:Choice>
        <mc:Fallback xmlns="">
          <p:pic>
            <p:nvPicPr>
              <p:cNvPr id="57" name="Viết tay 56">
                <a:extLst>
                  <a:ext uri="{FF2B5EF4-FFF2-40B4-BE49-F238E27FC236}">
                    <a16:creationId xmlns:a16="http://schemas.microsoft.com/office/drawing/2014/main" id="{FCB06F1D-54FD-0F69-B3D5-B097782D20E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058328" y="4377523"/>
                <a:ext cx="18000" cy="18000"/>
              </a:xfrm>
              <a:prstGeom prst="rect">
                <a:avLst/>
              </a:prstGeom>
            </p:spPr>
          </p:pic>
        </mc:Fallback>
      </mc:AlternateContent>
      <p:cxnSp>
        <p:nvCxnSpPr>
          <p:cNvPr id="36" name="Đường kết nối Mũi tên Thẳng 35">
            <a:extLst>
              <a:ext uri="{FF2B5EF4-FFF2-40B4-BE49-F238E27FC236}">
                <a16:creationId xmlns:a16="http://schemas.microsoft.com/office/drawing/2014/main" id="{95E750DE-F718-96D5-C917-031ACC4B1999}"/>
              </a:ext>
            </a:extLst>
          </p:cNvPr>
          <p:cNvCxnSpPr/>
          <p:nvPr/>
        </p:nvCxnSpPr>
        <p:spPr>
          <a:xfrm>
            <a:off x="3556000" y="1930399"/>
            <a:ext cx="147620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Hộp Văn bản 36">
            <a:extLst>
              <a:ext uri="{FF2B5EF4-FFF2-40B4-BE49-F238E27FC236}">
                <a16:creationId xmlns:a16="http://schemas.microsoft.com/office/drawing/2014/main" id="{B760DE6A-7C8E-461D-8FC0-81213939C36E}"/>
              </a:ext>
            </a:extLst>
          </p:cNvPr>
          <p:cNvSpPr txBox="1"/>
          <p:nvPr/>
        </p:nvSpPr>
        <p:spPr>
          <a:xfrm>
            <a:off x="4066985" y="1559473"/>
            <a:ext cx="4844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2000" b="1">
                <a:solidFill>
                  <a:schemeClr val="accent1"/>
                </a:solidFill>
              </a:rPr>
              <a:t>L2</a:t>
            </a:r>
            <a:endParaRPr lang="en-US" sz="2000" b="1">
              <a:solidFill>
                <a:schemeClr val="accent1"/>
              </a:solidFill>
            </a:endParaRPr>
          </a:p>
        </p:txBody>
      </p:sp>
      <p:cxnSp>
        <p:nvCxnSpPr>
          <p:cNvPr id="39" name="Đường kết nối Mũi tên Thẳng 38">
            <a:extLst>
              <a:ext uri="{FF2B5EF4-FFF2-40B4-BE49-F238E27FC236}">
                <a16:creationId xmlns:a16="http://schemas.microsoft.com/office/drawing/2014/main" id="{251A0E70-56D2-BF00-7EC4-8330DDFE2391}"/>
              </a:ext>
            </a:extLst>
          </p:cNvPr>
          <p:cNvCxnSpPr>
            <a:cxnSpLocks/>
          </p:cNvCxnSpPr>
          <p:nvPr/>
        </p:nvCxnSpPr>
        <p:spPr>
          <a:xfrm flipH="1">
            <a:off x="2619155" y="4360738"/>
            <a:ext cx="413965" cy="50966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Hộp Văn bản 40">
            <a:extLst>
              <a:ext uri="{FF2B5EF4-FFF2-40B4-BE49-F238E27FC236}">
                <a16:creationId xmlns:a16="http://schemas.microsoft.com/office/drawing/2014/main" id="{C9E2B8FC-4ED1-7A7E-C2F7-629E7E37CBFB}"/>
              </a:ext>
            </a:extLst>
          </p:cNvPr>
          <p:cNvSpPr txBox="1"/>
          <p:nvPr/>
        </p:nvSpPr>
        <p:spPr>
          <a:xfrm>
            <a:off x="3127677" y="3314786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/>
              <a:t>z0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5999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900A2-3A1B-3948-D700-2933513FF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7352EFA2-A42A-3495-A83E-47C37EE63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Tham số</a:t>
            </a:r>
            <a:endParaRPr lang="en-US" dirty="0"/>
          </a:p>
        </p:txBody>
      </p:sp>
      <p:graphicFrame>
        <p:nvGraphicFramePr>
          <p:cNvPr id="5" name="Bảng 4">
            <a:extLst>
              <a:ext uri="{FF2B5EF4-FFF2-40B4-BE49-F238E27FC236}">
                <a16:creationId xmlns:a16="http://schemas.microsoft.com/office/drawing/2014/main" id="{38DCB243-D201-378A-A554-B43C108297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7655257"/>
              </p:ext>
            </p:extLst>
          </p:nvPr>
        </p:nvGraphicFramePr>
        <p:xfrm>
          <a:off x="219918" y="995423"/>
          <a:ext cx="11783028" cy="5540542"/>
        </p:xfrm>
        <a:graphic>
          <a:graphicData uri="http://schemas.openxmlformats.org/drawingml/2006/table">
            <a:tbl>
              <a:tblPr firstRow="1" bandRow="1" bandCol="1">
                <a:tableStyleId>{5C22544A-7EE6-4342-B048-85BDC9FD1C3A}</a:tableStyleId>
              </a:tblPr>
              <a:tblGrid>
                <a:gridCol w="1963838">
                  <a:extLst>
                    <a:ext uri="{9D8B030D-6E8A-4147-A177-3AD203B41FA5}">
                      <a16:colId xmlns:a16="http://schemas.microsoft.com/office/drawing/2014/main" val="1901034222"/>
                    </a:ext>
                  </a:extLst>
                </a:gridCol>
                <a:gridCol w="1963838">
                  <a:extLst>
                    <a:ext uri="{9D8B030D-6E8A-4147-A177-3AD203B41FA5}">
                      <a16:colId xmlns:a16="http://schemas.microsoft.com/office/drawing/2014/main" val="122119504"/>
                    </a:ext>
                  </a:extLst>
                </a:gridCol>
                <a:gridCol w="1963838">
                  <a:extLst>
                    <a:ext uri="{9D8B030D-6E8A-4147-A177-3AD203B41FA5}">
                      <a16:colId xmlns:a16="http://schemas.microsoft.com/office/drawing/2014/main" val="4013524189"/>
                    </a:ext>
                  </a:extLst>
                </a:gridCol>
                <a:gridCol w="1963838">
                  <a:extLst>
                    <a:ext uri="{9D8B030D-6E8A-4147-A177-3AD203B41FA5}">
                      <a16:colId xmlns:a16="http://schemas.microsoft.com/office/drawing/2014/main" val="3485450839"/>
                    </a:ext>
                  </a:extLst>
                </a:gridCol>
                <a:gridCol w="1963838">
                  <a:extLst>
                    <a:ext uri="{9D8B030D-6E8A-4147-A177-3AD203B41FA5}">
                      <a16:colId xmlns:a16="http://schemas.microsoft.com/office/drawing/2014/main" val="62477935"/>
                    </a:ext>
                  </a:extLst>
                </a:gridCol>
                <a:gridCol w="1963838">
                  <a:extLst>
                    <a:ext uri="{9D8B030D-6E8A-4147-A177-3AD203B41FA5}">
                      <a16:colId xmlns:a16="http://schemas.microsoft.com/office/drawing/2014/main" val="270294140"/>
                    </a:ext>
                  </a:extLst>
                </a:gridCol>
              </a:tblGrid>
              <a:tr h="180501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Thành phần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0" marB="0" anchor="b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Ký hiệu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0" marB="0" anchor="b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Loại khớp / Tham số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0" marB="0" anchor="b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Phạm vi hoạt động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0" marB="0" anchor="b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Đơn vị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0" marB="0" anchor="b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Ý nghĩa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0" marB="0" anchor="b"/>
                </a:tc>
                <a:extLst>
                  <a:ext uri="{0D108BD9-81ED-4DB2-BD59-A6C34878D82A}">
                    <a16:rowId xmlns:a16="http://schemas.microsoft.com/office/drawing/2014/main" val="2205858916"/>
                  </a:ext>
                </a:extLst>
              </a:tr>
              <a:tr h="512733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Góc quay quanh trục z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θ₁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Revolute (R)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–3° → +3°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độ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Quay thân robot quanh trục đứng để điều hướng cánh tay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0" marB="0"/>
                </a:tc>
                <a:extLst>
                  <a:ext uri="{0D108BD9-81ED-4DB2-BD59-A6C34878D82A}">
                    <a16:rowId xmlns:a16="http://schemas.microsoft.com/office/drawing/2014/main" val="3429468268"/>
                  </a:ext>
                </a:extLst>
              </a:tr>
              <a:tr h="512733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Trượt theo trục z (nâng hạ)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d₂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Prismatic (P)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1000 → 1500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mm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Dịch chuyển đầu công tác lên xuống theo phương dọc trụ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0" marB="0"/>
                </a:tc>
                <a:extLst>
                  <a:ext uri="{0D108BD9-81ED-4DB2-BD59-A6C34878D82A}">
                    <a16:rowId xmlns:a16="http://schemas.microsoft.com/office/drawing/2014/main" val="168754580"/>
                  </a:ext>
                </a:extLst>
              </a:tr>
              <a:tr h="361002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Trượt theo trục x (vươn ra / thu vào)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d₃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Prismatic (P)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200</a:t>
                      </a:r>
                    </a:p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endParaRPr lang="en-US" sz="12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mm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Thay đổi độ vươn của cánh tay ngang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0" marB="0"/>
                </a:tc>
                <a:extLst>
                  <a:ext uri="{0D108BD9-81ED-4DB2-BD59-A6C34878D82A}">
                    <a16:rowId xmlns:a16="http://schemas.microsoft.com/office/drawing/2014/main" val="1118761168"/>
                  </a:ext>
                </a:extLst>
              </a:tr>
              <a:tr h="512733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Chiều dài cố định khâu 2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L₂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Tham số hình học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500 (cố định)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mm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Tay đòn cố định từ tâm quay đến khớp trượt cuối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0" marB="0"/>
                </a:tc>
                <a:extLst>
                  <a:ext uri="{0D108BD9-81ED-4DB2-BD59-A6C34878D82A}">
                    <a16:rowId xmlns:a16="http://schemas.microsoft.com/office/drawing/2014/main" val="2429598203"/>
                  </a:ext>
                </a:extLst>
              </a:tr>
              <a:tr h="541503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Bán kính quỹ đạo đầu công tác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R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—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mm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Biên độ di chuyển tròn của đầu công tác trong mặt phẳng XY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0" marB="0"/>
                </a:tc>
                <a:extLst>
                  <a:ext uri="{0D108BD9-81ED-4DB2-BD59-A6C34878D82A}">
                    <a16:rowId xmlns:a16="http://schemas.microsoft.com/office/drawing/2014/main" val="4048515727"/>
                  </a:ext>
                </a:extLst>
              </a:tr>
              <a:tr h="361002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Cao độ làm việc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z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—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100 → 150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mm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Vùng làm việc theo phương dọc trụ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0" marB="0"/>
                </a:tc>
                <a:extLst>
                  <a:ext uri="{0D108BD9-81ED-4DB2-BD59-A6C34878D82A}">
                    <a16:rowId xmlns:a16="http://schemas.microsoft.com/office/drawing/2014/main" val="511956025"/>
                  </a:ext>
                </a:extLst>
              </a:tr>
              <a:tr h="361002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Vận tốc nâng theo z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v_z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—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0.5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mm/s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Tốc độ di chuyển đều theo trục z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0" marB="0"/>
                </a:tc>
                <a:extLst>
                  <a:ext uri="{0D108BD9-81ED-4DB2-BD59-A6C34878D82A}">
                    <a16:rowId xmlns:a16="http://schemas.microsoft.com/office/drawing/2014/main" val="4063744435"/>
                  </a:ext>
                </a:extLst>
              </a:tr>
              <a:tr h="361002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Tốc độ góc quay quỹ đạo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ω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—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0.314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rad/s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Tốc độ quay tương đương 18°/s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0" marB="0"/>
                </a:tc>
                <a:extLst>
                  <a:ext uri="{0D108BD9-81ED-4DB2-BD59-A6C34878D82A}">
                    <a16:rowId xmlns:a16="http://schemas.microsoft.com/office/drawing/2014/main" val="1479898411"/>
                  </a:ext>
                </a:extLst>
              </a:tr>
              <a:tr h="361002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Gia tốc góc tối đa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(\ddot θ₁)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—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0.0055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rad/s²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Tốc độ tăng/giảm của chuyển động quay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0" marB="0"/>
                </a:tc>
                <a:extLst>
                  <a:ext uri="{0D108BD9-81ED-4DB2-BD59-A6C34878D82A}">
                    <a16:rowId xmlns:a16="http://schemas.microsoft.com/office/drawing/2014/main" val="3506906199"/>
                  </a:ext>
                </a:extLst>
              </a:tr>
              <a:tr h="361002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Gia tốc trượt ngang tối đa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(\ddot d₃)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—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4.9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mm/s²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Gia tốc lớn nhất khi cánh tay vươn/thu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0" marB="0"/>
                </a:tc>
                <a:extLst>
                  <a:ext uri="{0D108BD9-81ED-4DB2-BD59-A6C34878D82A}">
                    <a16:rowId xmlns:a16="http://schemas.microsoft.com/office/drawing/2014/main" val="1217140194"/>
                  </a:ext>
                </a:extLst>
              </a:tr>
              <a:tr h="341821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Tốc độ cực đại khớp quay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(\dot θ₁)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—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0.017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rad/s (≈1°/s)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Tốc độ quay nhỏ, an toàn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0" marB="0"/>
                </a:tc>
                <a:extLst>
                  <a:ext uri="{0D108BD9-81ED-4DB2-BD59-A6C34878D82A}">
                    <a16:rowId xmlns:a16="http://schemas.microsoft.com/office/drawing/2014/main" val="2538441947"/>
                  </a:ext>
                </a:extLst>
              </a:tr>
              <a:tr h="341821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Tốc độ cực đại khớp trượt d₃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(\dot d₃)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—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15.7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mm/s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Tốc độ trượt ngang tối đa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0" marB="0"/>
                </a:tc>
                <a:extLst>
                  <a:ext uri="{0D108BD9-81ED-4DB2-BD59-A6C34878D82A}">
                    <a16:rowId xmlns:a16="http://schemas.microsoft.com/office/drawing/2014/main" val="1433676555"/>
                  </a:ext>
                </a:extLst>
              </a:tr>
              <a:tr h="341821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Tốc độ cực đại khớp trượt d₂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(\dot d₂)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—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0.5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mm/s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Trượt dọc z ổn định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0" marB="0"/>
                </a:tc>
                <a:extLst>
                  <a:ext uri="{0D108BD9-81ED-4DB2-BD59-A6C34878D82A}">
                    <a16:rowId xmlns:a16="http://schemas.microsoft.com/office/drawing/2014/main" val="30002159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9743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E2127-33D9-1BF8-4F58-28FAA05F8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77E2532-A1A7-31DB-FFD4-6BE32D0BD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/>
              <a:t>ROBOT MODEL</a:t>
            </a:r>
            <a:br>
              <a:rPr lang="en-US" sz="3600"/>
            </a:br>
            <a:endParaRPr lang="en-US" sz="3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8D4B8A-A58E-DD57-7DCD-8D2A96CA96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1329475"/>
            <a:ext cx="4421090" cy="41990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92C0DBF-FAED-8927-D50F-BF1850B372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6470" y="1329475"/>
            <a:ext cx="4478652" cy="419904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88C99E6-61E9-2D89-BEB9-7DF35B5ECE5E}"/>
              </a:ext>
            </a:extLst>
          </p:cNvPr>
          <p:cNvSpPr txBox="1"/>
          <p:nvPr/>
        </p:nvSpPr>
        <p:spPr>
          <a:xfrm>
            <a:off x="2295144" y="5861304"/>
            <a:ext cx="16642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Part 1</a:t>
            </a:r>
          </a:p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A428EC-BB7F-5892-5012-9807BEBD6961}"/>
              </a:ext>
            </a:extLst>
          </p:cNvPr>
          <p:cNvSpPr txBox="1"/>
          <p:nvPr/>
        </p:nvSpPr>
        <p:spPr>
          <a:xfrm>
            <a:off x="8080250" y="5754384"/>
            <a:ext cx="16642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Part 2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304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FAA61-AA99-5D2F-C874-E998011D7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DF588F2-05D1-A43E-812F-30114026F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/>
              <a:t>ROBOT MODEL</a:t>
            </a:r>
            <a:br>
              <a:rPr lang="en-US" sz="3600"/>
            </a:br>
            <a:endParaRPr lang="en-US" sz="3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0E5B56-46BA-BC03-61F5-350401BC67F3}"/>
              </a:ext>
            </a:extLst>
          </p:cNvPr>
          <p:cNvSpPr txBox="1"/>
          <p:nvPr/>
        </p:nvSpPr>
        <p:spPr>
          <a:xfrm>
            <a:off x="2295144" y="5861304"/>
            <a:ext cx="16642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Part 3</a:t>
            </a:r>
          </a:p>
          <a:p>
            <a:pPr algn="ctr"/>
            <a:endParaRPr lang="en-US"/>
          </a:p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91969D-7D59-E219-300C-C3E85A30ACEA}"/>
              </a:ext>
            </a:extLst>
          </p:cNvPr>
          <p:cNvSpPr txBox="1"/>
          <p:nvPr/>
        </p:nvSpPr>
        <p:spPr>
          <a:xfrm>
            <a:off x="8080250" y="5754384"/>
            <a:ext cx="16642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Part 4</a:t>
            </a:r>
          </a:p>
          <a:p>
            <a:pPr algn="ctr"/>
            <a:endParaRPr lang="en-US"/>
          </a:p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793B1D3-0BD4-52E1-43B9-97F24CA3E7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031" y="1284732"/>
            <a:ext cx="4541100" cy="42885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449497-E2C7-450E-9A71-18BFBD1DFC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2350" y="1284732"/>
            <a:ext cx="4428488" cy="4288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1746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642EF-EA4E-4564-D993-C2C6149E3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10BDCD7-1BBE-08B9-C64A-33BACB7E1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/>
              <a:t>ROBOT MODEL</a:t>
            </a:r>
            <a:br>
              <a:rPr lang="en-US" sz="3600"/>
            </a:br>
            <a:endParaRPr lang="en-US" sz="3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77CE09-794D-72CA-370B-00DE122910E5}"/>
              </a:ext>
            </a:extLst>
          </p:cNvPr>
          <p:cNvSpPr txBox="1"/>
          <p:nvPr/>
        </p:nvSpPr>
        <p:spPr>
          <a:xfrm>
            <a:off x="2295144" y="5861304"/>
            <a:ext cx="16642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 </a:t>
            </a:r>
          </a:p>
          <a:p>
            <a:pPr algn="ctr"/>
            <a:endParaRPr lang="en-US"/>
          </a:p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877ABD-0245-8CCA-EA5A-95DC44590380}"/>
              </a:ext>
            </a:extLst>
          </p:cNvPr>
          <p:cNvSpPr txBox="1"/>
          <p:nvPr/>
        </p:nvSpPr>
        <p:spPr>
          <a:xfrm>
            <a:off x="8080250" y="5754384"/>
            <a:ext cx="16642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/>
          </a:p>
          <a:p>
            <a:pPr algn="ctr"/>
            <a:endParaRPr lang="en-US"/>
          </a:p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BF863D-01F8-FDE0-CB32-B881E62B20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187" y="1053163"/>
            <a:ext cx="4436077" cy="43692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4BD8AFA-6F92-5487-9B5A-C694C9E80F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622" y="1053162"/>
            <a:ext cx="4625839" cy="4369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8145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32D16-4B2C-6FEA-C091-EA48E358E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8F82C4D-9C91-C909-9E52-C57591D69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/>
              <a:t>Biểu thức ma trận biến đổi D-H</a:t>
            </a:r>
            <a:endParaRPr lang="en-US"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E000B6-6071-5609-F8C7-61F5B6C3DF14}"/>
              </a:ext>
            </a:extLst>
          </p:cNvPr>
          <p:cNvSpPr txBox="1"/>
          <p:nvPr/>
        </p:nvSpPr>
        <p:spPr>
          <a:xfrm>
            <a:off x="529625" y="1055393"/>
            <a:ext cx="104207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/>
              <a:t>Biến đổi thuần nhất từ hệ {i–1} sang {i} là:</a:t>
            </a:r>
            <a:endParaRPr lang="en-US" sz="2800" dirty="0"/>
          </a:p>
        </p:txBody>
      </p:sp>
      <p:pic>
        <p:nvPicPr>
          <p:cNvPr id="5" name="Hình ảnh 4">
            <a:extLst>
              <a:ext uri="{FF2B5EF4-FFF2-40B4-BE49-F238E27FC236}">
                <a16:creationId xmlns:a16="http://schemas.microsoft.com/office/drawing/2014/main" id="{9AF32321-B0EC-F4C1-F5F8-220044DDD9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3145" y="1720906"/>
            <a:ext cx="5153744" cy="638264"/>
          </a:xfrm>
          <a:prstGeom prst="rect">
            <a:avLst/>
          </a:prstGeom>
        </p:spPr>
      </p:pic>
      <p:pic>
        <p:nvPicPr>
          <p:cNvPr id="7" name="Hình ảnh 6">
            <a:extLst>
              <a:ext uri="{FF2B5EF4-FFF2-40B4-BE49-F238E27FC236}">
                <a16:creationId xmlns:a16="http://schemas.microsoft.com/office/drawing/2014/main" id="{CD6FA4EA-BBF5-2278-BDEC-65C9FD7437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5942" y="2359170"/>
            <a:ext cx="7640116" cy="1857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6482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30D10-FF5D-C278-8896-5A57215B8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3FC021B-7DA5-D132-32D7-A42FC4D08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 sz="3600"/>
              <a:t>Ma trận biến đổi từng khâu</a:t>
            </a:r>
            <a:endParaRPr lang="en-US" sz="3600" dirty="0"/>
          </a:p>
        </p:txBody>
      </p:sp>
      <p:pic>
        <p:nvPicPr>
          <p:cNvPr id="3" name="Hình ảnh 2">
            <a:extLst>
              <a:ext uri="{FF2B5EF4-FFF2-40B4-BE49-F238E27FC236}">
                <a16:creationId xmlns:a16="http://schemas.microsoft.com/office/drawing/2014/main" id="{245322D5-942F-6C58-B0B2-244419E36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4259" y="1371313"/>
            <a:ext cx="5963482" cy="4115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4144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3B6A5-FC64-04D3-6C37-D146C0BCF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BC782BB-32A1-BD66-F994-AFF22C0F0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 sz="3600"/>
              <a:t>Ma trận chuyển động khâu cuối</a:t>
            </a:r>
            <a:endParaRPr lang="en-US" sz="3600" dirty="0"/>
          </a:p>
        </p:txBody>
      </p:sp>
      <p:pic>
        <p:nvPicPr>
          <p:cNvPr id="3" name="Hình ảnh 2">
            <a:extLst>
              <a:ext uri="{FF2B5EF4-FFF2-40B4-BE49-F238E27FC236}">
                <a16:creationId xmlns:a16="http://schemas.microsoft.com/office/drawing/2014/main" id="{0DBA5594-5D57-2263-A8D6-69BF437A49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8284" y="2114024"/>
            <a:ext cx="6658904" cy="149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7547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D1CB6-C195-0721-1E73-3EBA4CFF9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7AC5AC6-90C5-7F83-C6C2-767A0B023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 sz="3600" dirty="0"/>
              <a:t>Hệ phương trình vị trí điểm cuối </a:t>
            </a:r>
            <a:r>
              <a:rPr lang="vi-VN" sz="3600" dirty="0" err="1"/>
              <a:t>vs</a:t>
            </a:r>
            <a:r>
              <a:rPr lang="vi-VN" sz="3600" dirty="0"/>
              <a:t> </a:t>
            </a:r>
            <a:r>
              <a:rPr lang="vi-VN" sz="3600" dirty="0" err="1"/>
              <a:t>Jacobian</a:t>
            </a:r>
            <a:endParaRPr lang="en-US" sz="3600" dirty="0"/>
          </a:p>
        </p:txBody>
      </p:sp>
      <p:pic>
        <p:nvPicPr>
          <p:cNvPr id="10" name="Hình ảnh 9">
            <a:extLst>
              <a:ext uri="{FF2B5EF4-FFF2-40B4-BE49-F238E27FC236}">
                <a16:creationId xmlns:a16="http://schemas.microsoft.com/office/drawing/2014/main" id="{544E8657-7C44-8B5C-7E7C-13743B35BE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5267" y="1693891"/>
            <a:ext cx="5781999" cy="1448002"/>
          </a:xfrm>
          <a:prstGeom prst="rect">
            <a:avLst/>
          </a:prstGeom>
        </p:spPr>
      </p:pic>
      <p:pic>
        <p:nvPicPr>
          <p:cNvPr id="13" name="Hình ảnh 12">
            <a:extLst>
              <a:ext uri="{FF2B5EF4-FFF2-40B4-BE49-F238E27FC236}">
                <a16:creationId xmlns:a16="http://schemas.microsoft.com/office/drawing/2014/main" id="{22DAC901-DD4F-C3E2-A592-310759182E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4271693"/>
            <a:ext cx="5681266" cy="1366540"/>
          </a:xfrm>
          <a:prstGeom prst="rect">
            <a:avLst/>
          </a:prstGeom>
        </p:spPr>
      </p:pic>
      <p:pic>
        <p:nvPicPr>
          <p:cNvPr id="3" name="Hình ảnh 2">
            <a:extLst>
              <a:ext uri="{FF2B5EF4-FFF2-40B4-BE49-F238E27FC236}">
                <a16:creationId xmlns:a16="http://schemas.microsoft.com/office/drawing/2014/main" id="{DA71DCBA-7D9E-7B11-0EF0-9C498F4C29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214" y="960699"/>
            <a:ext cx="5051956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4252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0380E-CA38-5EFD-8DF9-C500F414C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E1EE5E2-E19A-A446-087C-233673B9EF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530" y="248691"/>
            <a:ext cx="4417452" cy="1460428"/>
          </a:xfrm>
        </p:spPr>
        <p:txBody>
          <a:bodyPr anchor="b">
            <a:normAutofit/>
          </a:bodyPr>
          <a:lstStyle/>
          <a:p>
            <a:r>
              <a:rPr lang="en-US" sz="3100" b="1" kern="1200" baseline="0">
                <a:latin typeface="UTM Avo" panose="02040603050506020204" pitchFamily="18" charset="0"/>
                <a:ea typeface="+mj-ea"/>
                <a:cs typeface="Arial" panose="020B0604020202020204" pitchFamily="34" charset="0"/>
              </a:rPr>
              <a:t>🤖 ĐỘNG HỌC NGƯỢC (INVERSE KINEMATICS)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0D0E1BC3-0A71-5580-3AF6-D00B45C604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2966" y="2320113"/>
            <a:ext cx="4417452" cy="750072"/>
          </a:xfrm>
        </p:spPr>
        <p:txBody>
          <a:bodyPr/>
          <a:lstStyle/>
          <a:p>
            <a:pPr algn="l"/>
            <a:r>
              <a:rPr lang="en-US" sz="1700" b="1"/>
              <a:t>🔹 Khái niệm</a:t>
            </a:r>
          </a:p>
          <a:p>
            <a:pPr lvl="0" algn="l"/>
            <a:r>
              <a:rPr lang="en-US" sz="1700"/>
              <a:t>Động học ngược là </a:t>
            </a:r>
            <a:r>
              <a:rPr lang="en-US" sz="1700" b="1"/>
              <a:t>quá trình xác định giá trị các biến khớp</a:t>
            </a:r>
            <a:r>
              <a:rPr lang="en-US" sz="1700"/>
              <a:t> </a:t>
            </a:r>
            <a:r>
              <a:rPr lang="en-US" sz="1700" b="1"/>
              <a:t>khi biết vị trí mong muốn </a:t>
            </a:r>
          </a:p>
          <a:p>
            <a:pPr lvl="0" algn="l"/>
            <a:r>
              <a:rPr lang="en-US" sz="1700"/>
              <a:t>Nói cách khác:</a:t>
            </a:r>
          </a:p>
          <a:p>
            <a:pPr lvl="0" algn="l"/>
            <a:r>
              <a:rPr lang="en-US" sz="1700" b="1"/>
              <a:t>Biết đầu robot cần đến đâu → tìm góc quay và độ trượt cần thiết của từng khớp.</a:t>
            </a:r>
            <a:endParaRPr lang="en-US" sz="1700"/>
          </a:p>
        </p:txBody>
      </p:sp>
      <p:graphicFrame>
        <p:nvGraphicFramePr>
          <p:cNvPr id="13" name="Hộp Văn bản 10">
            <a:extLst>
              <a:ext uri="{FF2B5EF4-FFF2-40B4-BE49-F238E27FC236}">
                <a16:creationId xmlns:a16="http://schemas.microsoft.com/office/drawing/2014/main" id="{FD58E662-617D-C592-9DDF-6293510ED8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97453808"/>
              </p:ext>
            </p:extLst>
          </p:nvPr>
        </p:nvGraphicFramePr>
        <p:xfrm>
          <a:off x="5833641" y="830318"/>
          <a:ext cx="7096258" cy="56319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869517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54CC8-0A03-54B9-52E3-2CAE58EBB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6132016-7D3E-198A-EB0D-75A75C989E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48691"/>
            <a:ext cx="8281116" cy="563225"/>
          </a:xfrm>
        </p:spPr>
        <p:txBody>
          <a:bodyPr anchor="b">
            <a:normAutofit/>
          </a:bodyPr>
          <a:lstStyle/>
          <a:p>
            <a:r>
              <a:rPr lang="en-US" sz="3100" b="1" kern="1200" baseline="0">
                <a:latin typeface="UTM Avo" panose="02040603050506020204" pitchFamily="18" charset="0"/>
                <a:ea typeface="+mj-ea"/>
                <a:cs typeface="Arial" panose="020B0604020202020204" pitchFamily="34" charset="0"/>
              </a:rPr>
              <a:t>🤖 ĐỘNG HỌC NGƯỢC (INVERSE KINEMATICS)</a:t>
            </a:r>
          </a:p>
        </p:txBody>
      </p:sp>
      <p:pic>
        <p:nvPicPr>
          <p:cNvPr id="3" name="Hình ảnh 2">
            <a:extLst>
              <a:ext uri="{FF2B5EF4-FFF2-40B4-BE49-F238E27FC236}">
                <a16:creationId xmlns:a16="http://schemas.microsoft.com/office/drawing/2014/main" id="{3D8500EC-E992-F065-CB80-214E307885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10" y="1313962"/>
            <a:ext cx="6481415" cy="4786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7949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7D323-DD2E-9E2F-2FD4-D9C8CDAD7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Bảng 2">
            <a:extLst>
              <a:ext uri="{FF2B5EF4-FFF2-40B4-BE49-F238E27FC236}">
                <a16:creationId xmlns:a16="http://schemas.microsoft.com/office/drawing/2014/main" id="{1C2690DE-72B5-7EE1-B809-A119675DAE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6489007"/>
              </p:ext>
            </p:extLst>
          </p:nvPr>
        </p:nvGraphicFramePr>
        <p:xfrm>
          <a:off x="691671" y="519018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14980802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Vận tốc điểm cuối:</a:t>
                      </a:r>
                      <a:endParaRPr lang="en-US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2041116"/>
                  </a:ext>
                </a:extLst>
              </a:tr>
            </a:tbl>
          </a:graphicData>
        </a:graphic>
      </p:graphicFrame>
      <p:pic>
        <p:nvPicPr>
          <p:cNvPr id="6" name="Hình ảnh 5">
            <a:extLst>
              <a:ext uri="{FF2B5EF4-FFF2-40B4-BE49-F238E27FC236}">
                <a16:creationId xmlns:a16="http://schemas.microsoft.com/office/drawing/2014/main" id="{4EA9118B-F3C3-7945-E6D5-55D99B0794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991" y="1030424"/>
            <a:ext cx="2400635" cy="352474"/>
          </a:xfrm>
          <a:prstGeom prst="rect">
            <a:avLst/>
          </a:prstGeom>
        </p:spPr>
      </p:pic>
      <p:pic>
        <p:nvPicPr>
          <p:cNvPr id="8" name="Hình ảnh 7">
            <a:extLst>
              <a:ext uri="{FF2B5EF4-FFF2-40B4-BE49-F238E27FC236}">
                <a16:creationId xmlns:a16="http://schemas.microsoft.com/office/drawing/2014/main" id="{D7E67FF6-A752-F509-72D8-763AF96473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349" y="1382898"/>
            <a:ext cx="3848637" cy="1514686"/>
          </a:xfrm>
          <a:prstGeom prst="rect">
            <a:avLst/>
          </a:prstGeom>
        </p:spPr>
      </p:pic>
      <p:graphicFrame>
        <p:nvGraphicFramePr>
          <p:cNvPr id="9" name="Bảng 8">
            <a:extLst>
              <a:ext uri="{FF2B5EF4-FFF2-40B4-BE49-F238E27FC236}">
                <a16:creationId xmlns:a16="http://schemas.microsoft.com/office/drawing/2014/main" id="{737D3900-E8CC-5DC2-AA8C-D4A0124F04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7190372"/>
              </p:ext>
            </p:extLst>
          </p:nvPr>
        </p:nvGraphicFramePr>
        <p:xfrm>
          <a:off x="691671" y="3250058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14980802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Gia tốc điểm cuối:</a:t>
                      </a:r>
                      <a:endParaRPr lang="en-US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2041116"/>
                  </a:ext>
                </a:extLst>
              </a:tr>
            </a:tbl>
          </a:graphicData>
        </a:graphic>
      </p:graphicFrame>
      <p:pic>
        <p:nvPicPr>
          <p:cNvPr id="11" name="Hình ảnh 10">
            <a:extLst>
              <a:ext uri="{FF2B5EF4-FFF2-40B4-BE49-F238E27FC236}">
                <a16:creationId xmlns:a16="http://schemas.microsoft.com/office/drawing/2014/main" id="{906B727C-7985-993E-5667-17D666E8D3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671" y="4169995"/>
            <a:ext cx="6125430" cy="165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6252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89688666-33FC-C14F-38DE-BCB11ECD7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cuối</a:t>
            </a:r>
            <a:r>
              <a:rPr lang="en-US" dirty="0"/>
              <a:t>:</a:t>
            </a:r>
          </a:p>
        </p:txBody>
      </p:sp>
      <p:pic>
        <p:nvPicPr>
          <p:cNvPr id="4" name="Hình ảnh 3" descr="Ảnh có chứa biểu đồ, hàng, bản phác thảo, văn bản">
            <a:extLst>
              <a:ext uri="{FF2B5EF4-FFF2-40B4-BE49-F238E27FC236}">
                <a16:creationId xmlns:a16="http://schemas.microsoft.com/office/drawing/2014/main" id="{379D97B4-C435-5771-A963-E1B48051BB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0707" y="1213950"/>
            <a:ext cx="6294922" cy="4634771"/>
          </a:xfrm>
          <a:prstGeom prst="rect">
            <a:avLst/>
          </a:prstGeom>
        </p:spPr>
      </p:pic>
      <p:graphicFrame>
        <p:nvGraphicFramePr>
          <p:cNvPr id="3" name="Bảng 2">
            <a:extLst>
              <a:ext uri="{FF2B5EF4-FFF2-40B4-BE49-F238E27FC236}">
                <a16:creationId xmlns:a16="http://schemas.microsoft.com/office/drawing/2014/main" id="{16A367B8-3ECC-F5D3-770F-F2210C7C48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6003125"/>
              </p:ext>
            </p:extLst>
          </p:nvPr>
        </p:nvGraphicFramePr>
        <p:xfrm>
          <a:off x="656947" y="843110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14980802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Đồ</a:t>
                      </a:r>
                      <a:r>
                        <a:rPr lang="en-US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thị</a:t>
                      </a:r>
                      <a:r>
                        <a:rPr lang="en-US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quỹ</a:t>
                      </a:r>
                      <a:r>
                        <a:rPr lang="en-US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đạo</a:t>
                      </a:r>
                      <a:r>
                        <a:rPr lang="en-US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điểm</a:t>
                      </a:r>
                      <a:r>
                        <a:rPr lang="en-US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tác</a:t>
                      </a:r>
                      <a:r>
                        <a:rPr lang="en-US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động</a:t>
                      </a:r>
                      <a:r>
                        <a:rPr lang="en-US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cuối</a:t>
                      </a:r>
                      <a:r>
                        <a:rPr lang="en-US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: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20411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77748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4FA0C1E6-4FFF-F3F6-D72E-2F85B85B0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Tọa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cuối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:</a:t>
            </a:r>
          </a:p>
        </p:txBody>
      </p:sp>
      <p:pic>
        <p:nvPicPr>
          <p:cNvPr id="4" name="Hình ảnh 3" descr="Ảnh có chứa biểu đồ, hàng, bản phác thảo, thiết kế&#10;&#10;Nội dung do AI tạo ra có thể không chính xác.">
            <a:extLst>
              <a:ext uri="{FF2B5EF4-FFF2-40B4-BE49-F238E27FC236}">
                <a16:creationId xmlns:a16="http://schemas.microsoft.com/office/drawing/2014/main" id="{706DCFEF-E53B-A7D5-A132-6154D68F4F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2229" y="834390"/>
            <a:ext cx="6667500" cy="5189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5310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36943EEA-45B2-2855-A60A-198A35387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:</a:t>
            </a:r>
          </a:p>
        </p:txBody>
      </p:sp>
      <p:pic>
        <p:nvPicPr>
          <p:cNvPr id="4" name="Hình ảnh 3" descr="Ảnh có chứa văn bản, hàng, biểu đồ, Sơ đồ&#10;&#10;Nội dung do AI tạo ra có thể không chính xác.">
            <a:extLst>
              <a:ext uri="{FF2B5EF4-FFF2-40B4-BE49-F238E27FC236}">
                <a16:creationId xmlns:a16="http://schemas.microsoft.com/office/drawing/2014/main" id="{D0D27DAA-E950-2B2E-CDB9-91702C8AA5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868" y="1284371"/>
            <a:ext cx="7134225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4858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929BC34-5CE0-732A-F536-0C393780B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:</a:t>
            </a:r>
          </a:p>
        </p:txBody>
      </p:sp>
      <p:pic>
        <p:nvPicPr>
          <p:cNvPr id="4" name="Hình ảnh 3" descr="Ảnh có chứa văn bản, Sơ đồ, hàng, biểu đồ&#10;&#10;Nội dung do AI tạo ra có thể không chính xác.">
            <a:extLst>
              <a:ext uri="{FF2B5EF4-FFF2-40B4-BE49-F238E27FC236}">
                <a16:creationId xmlns:a16="http://schemas.microsoft.com/office/drawing/2014/main" id="{88D8CC9B-3A6A-AC81-53FC-FA6FE8B482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9497" y="1149617"/>
            <a:ext cx="7134225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843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45882-262C-8CAD-61F6-75CB6C7A9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1E62AD54-1596-F581-2AB4-A6C1DD514900}"/>
              </a:ext>
            </a:extLst>
          </p:cNvPr>
          <p:cNvSpPr txBox="1">
            <a:spLocks/>
          </p:cNvSpPr>
          <p:nvPr/>
        </p:nvSpPr>
        <p:spPr>
          <a:xfrm>
            <a:off x="693599" y="194366"/>
            <a:ext cx="7728682" cy="55328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b="1" kern="1200" baseline="0">
                <a:solidFill>
                  <a:srgbClr val="223771"/>
                </a:solidFill>
                <a:latin typeface="UTM Avo" panose="02040603050506020204" pitchFamily="18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ngược</a:t>
            </a:r>
            <a:r>
              <a:rPr lang="en-US" dirty="0"/>
              <a:t>: </a:t>
            </a:r>
          </a:p>
        </p:txBody>
      </p:sp>
      <p:pic>
        <p:nvPicPr>
          <p:cNvPr id="5" name="Hình ảnh 4" descr="Ảnh có chứa văn bản, biểu đồ, hàng, Sơ đồ&#10;&#10;Nội dung do AI tạo ra có thể không chính xác.">
            <a:extLst>
              <a:ext uri="{FF2B5EF4-FFF2-40B4-BE49-F238E27FC236}">
                <a16:creationId xmlns:a16="http://schemas.microsoft.com/office/drawing/2014/main" id="{5C0E5EFD-59F9-8E94-F93F-C5452292A8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528" y="981777"/>
            <a:ext cx="9661495" cy="4689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6729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E0F71-27B9-3CDC-FA49-471ACF004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105A290A-22D5-119F-8030-412393619581}"/>
              </a:ext>
            </a:extLst>
          </p:cNvPr>
          <p:cNvSpPr txBox="1">
            <a:spLocks/>
          </p:cNvSpPr>
          <p:nvPr/>
        </p:nvSpPr>
        <p:spPr>
          <a:xfrm>
            <a:off x="693599" y="194366"/>
            <a:ext cx="7728682" cy="55328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b="1" kern="1200" baseline="0">
                <a:solidFill>
                  <a:srgbClr val="223771"/>
                </a:solidFill>
                <a:latin typeface="UTM Avo" panose="02040603050506020204" pitchFamily="18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/>
              <a:t>Mô phỏng robot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C59AC4-8CF3-A55E-E0D6-EA08798B38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4016" y="1100548"/>
            <a:ext cx="9201912" cy="47987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ED4586A-7D36-72AA-45C7-973B39C0B336}"/>
              </a:ext>
            </a:extLst>
          </p:cNvPr>
          <p:cNvSpPr txBox="1"/>
          <p:nvPr/>
        </p:nvSpPr>
        <p:spPr>
          <a:xfrm>
            <a:off x="402336" y="2432304"/>
            <a:ext cx="13350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Mô phỏng trên Visual code</a:t>
            </a:r>
          </a:p>
        </p:txBody>
      </p:sp>
    </p:spTree>
    <p:extLst>
      <p:ext uri="{BB962C8B-B14F-4D97-AF65-F5344CB8AC3E}">
        <p14:creationId xmlns:p14="http://schemas.microsoft.com/office/powerpoint/2010/main" val="8756922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539F3-8C9A-00C3-5CBC-B020C4E13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6EDC7A89-77A1-0078-5E07-D9BC8899537B}"/>
              </a:ext>
            </a:extLst>
          </p:cNvPr>
          <p:cNvSpPr txBox="1">
            <a:spLocks/>
          </p:cNvSpPr>
          <p:nvPr/>
        </p:nvSpPr>
        <p:spPr>
          <a:xfrm>
            <a:off x="693599" y="194366"/>
            <a:ext cx="7728682" cy="55328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b="1" kern="1200" baseline="0">
                <a:solidFill>
                  <a:srgbClr val="223771"/>
                </a:solidFill>
                <a:latin typeface="UTM Avo" panose="02040603050506020204" pitchFamily="18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/>
              <a:t>Không gian làm việc </a:t>
            </a:r>
          </a:p>
          <a:p>
            <a:endParaRPr lang="en-US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E50222-309B-F8FC-2357-3629919D4F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5468" y="1256997"/>
            <a:ext cx="7621064" cy="4344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126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75DAA-AC7D-C901-F35C-0AF3982EA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B13EB763-C33E-CAFE-54D3-C7FD304C64C9}"/>
              </a:ext>
            </a:extLst>
          </p:cNvPr>
          <p:cNvSpPr txBox="1">
            <a:spLocks/>
          </p:cNvSpPr>
          <p:nvPr/>
        </p:nvSpPr>
        <p:spPr>
          <a:xfrm>
            <a:off x="693599" y="194366"/>
            <a:ext cx="7728682" cy="55328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b="1" kern="1200" baseline="0">
                <a:solidFill>
                  <a:srgbClr val="223771"/>
                </a:solidFill>
                <a:latin typeface="UTM Avo" panose="02040603050506020204" pitchFamily="18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/>
              <a:t>Kết quả khi chạy thực tế (Forward)</a:t>
            </a:r>
          </a:p>
          <a:p>
            <a:endParaRPr lang="en-US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CFE008-CC29-E8DA-5F74-5B1DD381DD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599" y="1801368"/>
            <a:ext cx="2982222" cy="255767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6A92590-2826-70BE-156F-68C3313790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4889" y="1801368"/>
            <a:ext cx="2982222" cy="25344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E6711F6-6E8C-5AA1-A79A-A93D1D52CA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9368" y="1795967"/>
            <a:ext cx="3052976" cy="253986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BDC410E-6754-6A87-34CA-F02526DDCDA5}"/>
              </a:ext>
            </a:extLst>
          </p:cNvPr>
          <p:cNvSpPr txBox="1"/>
          <p:nvPr/>
        </p:nvSpPr>
        <p:spPr>
          <a:xfrm>
            <a:off x="1472184" y="4766420"/>
            <a:ext cx="16642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Điểm bắt đầu </a:t>
            </a:r>
          </a:p>
          <a:p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790C13-7EE0-B25F-B102-7EF85CDCF318}"/>
              </a:ext>
            </a:extLst>
          </p:cNvPr>
          <p:cNvSpPr txBox="1"/>
          <p:nvPr/>
        </p:nvSpPr>
        <p:spPr>
          <a:xfrm>
            <a:off x="5209032" y="4743212"/>
            <a:ext cx="20695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Khi đang di chuyển  </a:t>
            </a:r>
          </a:p>
          <a:p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09B292-C50E-F793-C6FA-E4D59289FEFC}"/>
              </a:ext>
            </a:extLst>
          </p:cNvPr>
          <p:cNvSpPr txBox="1"/>
          <p:nvPr/>
        </p:nvSpPr>
        <p:spPr>
          <a:xfrm>
            <a:off x="9625584" y="4743211"/>
            <a:ext cx="16642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Điểm kết thúc </a:t>
            </a:r>
          </a:p>
          <a:p>
            <a:r>
              <a:rPr lang="en-US"/>
              <a:t> 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4646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ABD43-1099-407C-6B9C-159798E7F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C76EFC82-64EB-541E-9F96-693DC515E556}"/>
              </a:ext>
            </a:extLst>
          </p:cNvPr>
          <p:cNvSpPr txBox="1">
            <a:spLocks/>
          </p:cNvSpPr>
          <p:nvPr/>
        </p:nvSpPr>
        <p:spPr>
          <a:xfrm>
            <a:off x="693599" y="194366"/>
            <a:ext cx="7728682" cy="55328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b="1" kern="1200" baseline="0">
                <a:solidFill>
                  <a:srgbClr val="223771"/>
                </a:solidFill>
                <a:latin typeface="UTM Avo" panose="02040603050506020204" pitchFamily="18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/>
              <a:t>Kết quả khi chạy thực tế (inverkinematic)</a:t>
            </a:r>
          </a:p>
          <a:p>
            <a:endParaRPr lang="en-US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6FE81A-1450-4DE9-CD9D-621BDC3478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1759" y="1291423"/>
            <a:ext cx="6908482" cy="4647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2631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0EBC5-74ED-2678-F22E-970EA3F92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190253-A668-FFE4-2D3F-EBFA5CFA661F}"/>
              </a:ext>
            </a:extLst>
          </p:cNvPr>
          <p:cNvSpPr txBox="1"/>
          <p:nvPr/>
        </p:nvSpPr>
        <p:spPr>
          <a:xfrm>
            <a:off x="3149600" y="2644170"/>
            <a:ext cx="67462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/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2521511808"/>
      </p:ext>
    </p:extLst>
  </p:cSld>
  <p:clrMapOvr>
    <a:masterClrMapping/>
  </p:clrMapOvr>
</p:sld>
</file>

<file path=ppt/theme/theme1.xml><?xml version="1.0" encoding="utf-8"?>
<a:theme xmlns:a="http://schemas.openxmlformats.org/drawingml/2006/main" name="Vicostone 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u thuyet trình cong ty Vicostone" id="{123813FF-2186-4307-88AB-E52DC4E764C5}" vid="{7A2E833A-1ED4-4E30-9CFE-D6481D7B3B5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MauDH Thanh Tay</Template>
  <TotalTime>8442</TotalTime>
  <Words>1018</Words>
  <Application>Microsoft Office PowerPoint</Application>
  <PresentationFormat>Widescreen</PresentationFormat>
  <Paragraphs>220</Paragraphs>
  <Slides>25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Calibri</vt:lpstr>
      <vt:lpstr>Cambria</vt:lpstr>
      <vt:lpstr>Tahoma</vt:lpstr>
      <vt:lpstr>Times New Roman</vt:lpstr>
      <vt:lpstr>UTM Avo</vt:lpstr>
      <vt:lpstr>Vicostone Template</vt:lpstr>
      <vt:lpstr>Lập trình mô phỏng robot và các hệ cơ điện tử</vt:lpstr>
      <vt:lpstr>Bảng phân chia công việc:</vt:lpstr>
      <vt:lpstr>Động học thuận</vt:lpstr>
      <vt:lpstr>Gắn trục toạ độ và bảng DH</vt:lpstr>
      <vt:lpstr>Tham số</vt:lpstr>
      <vt:lpstr>ROBOT MODEL </vt:lpstr>
      <vt:lpstr>ROBOT MODEL </vt:lpstr>
      <vt:lpstr>ROBOT MODEL </vt:lpstr>
      <vt:lpstr>Biểu thức ma trận biến đổi D-H</vt:lpstr>
      <vt:lpstr>Ma trận biến đổi từng khâu</vt:lpstr>
      <vt:lpstr>Ma trận chuyển động khâu cuối</vt:lpstr>
      <vt:lpstr>Hệ phương trình vị trí điểm cuối vs Jacobian</vt:lpstr>
      <vt:lpstr>🤖 ĐỘNG HỌC NGƯỢC (INVERSE KINEMATICS)</vt:lpstr>
      <vt:lpstr>🤖 ĐỘNG HỌC NGƯỢC (INVERSE KINEMATICS)</vt:lpstr>
      <vt:lpstr>PowerPoint Presentation</vt:lpstr>
      <vt:lpstr>Điểm tác động cuối:</vt:lpstr>
      <vt:lpstr>Tọa độ điểm cuối theo thời gian:</vt:lpstr>
      <vt:lpstr>Bài toán động học thuận:</vt:lpstr>
      <vt:lpstr>Bài toán động học thuận: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Dinh Tien Huy</dc:creator>
  <cp:lastModifiedBy>hiên heien</cp:lastModifiedBy>
  <cp:revision>156</cp:revision>
  <dcterms:created xsi:type="dcterms:W3CDTF">2018-07-24T06:18:10Z</dcterms:created>
  <dcterms:modified xsi:type="dcterms:W3CDTF">2025-11-14T16:24:16Z</dcterms:modified>
</cp:coreProperties>
</file>